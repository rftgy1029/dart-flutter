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소개" id="{02470e1e-6bd3-4dd3-0b1e-9037a13b651c}">
          <p14:sldIdLst>
            <p14:sldId id="256"/>
            <p14:sldId id="257"/>
          </p14:sldIdLst>
        </p14:section>
        <p14:section name="기능과 기술" id="{e0777497-5a49-9f08-71d2-259db7f39cbc}">
          <p14:sldIdLst>
            <p14:sldId id="258"/>
            <p14:sldId id="259"/>
            <p14:sldId id="260"/>
          </p14:sldIdLst>
        </p14:section>
        <p14:section name="개발 과정" id="{8739108c-5440-0493-8b1b-890ea1d7c31f}">
          <p14:sldIdLst>
            <p14:sldId id="261"/>
          </p14:sldIdLst>
        </p14:section>
        <p14:section name="마무리" id="{31f9bca2-63b4-4de7-dd21-eccc65306b09}">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정찬영입니다. 오늘은 제가 만든 날씨 앱 WeatherApp을 소개하려고 합니다. 이 앱은 Flutter라는 도구로 만들었고, 코드를 한 줄씩 직접 다 친 게 아니라 Codex와 Claude Code라는 AI에게 설명하면서 만드는 '바이브 코딩' 방식으로 만들었어요. 5분 정도 앱이 어떻게 생겼고 어떻게 동작하는지 쉽게 설명해 볼게요.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앱 화면은 이렇게 생겼어요. 위에서부터 차례로 보면, 1번 검색창에 '서울'이나 'Tokyo'처럼 도시 이름을 입력하면 후보 도시가 나오고, 하나를 고르면 됩니다. 2번은 지금 날씨로, 현재 온도와 맑음·비·눈 같은 상태를 크게 보여줘요. 3번은 체감 온도, 습도, 바람, 강수량 같은 세부 정보이고, 4번은 앞으로 12시간의 시간별 예보와 7일 예보입니다. 화면 하나에서 필요한 날씨 정보를 다 볼 수 있게 만들었어요.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겉으로 잘 안 보이지만 신경 쓴 부분도 세 가지 있어요. 첫째, 날씨에 따라 카드 색이 바뀝니다. 맑으면 밝은 하늘색과 노란색, 흐리면 회색, 비가 오면 푸른색, 밤이면 어두운 남색이 돼요. 둘째, 마지막으로 본 도시를 휴대폰에 저장해 둬서, 다음에 앱을 켜면 그 도시 날씨부터 보여줍니다. 셋째, 인터넷이 끊기거나 서버가 응답하지 않아도 앱이 꺼지지 않고, 무슨 문제인지 알려주고 다시 시도 버튼을 보여줘요.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앱은 Flutter로 만들었어요. Flutter는 구글이 만든 앱 개발 도구인데, 가장 큰 장점은 코드를 한 번만 만들면 안드로이드, 아이폰, 웹, 컴퓨터에서 모두 돌릴 수 있다는 거예요. 실제로 이 앱도 휴대폰 앱과 웹사이트 버전이 같은 코드에서 나옵니다. Flutter에서는 화면을 '위젯'이라는 블록으로 만들어요. 검색창 블록, 날씨 카드 블록, 예보 목록 블록을 레고처럼 쌓으면 하나의 화면이 되는 거죠. 이 앱에는 제가 만든 위젯이 11개 들어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날씨 정보는 어디서 가져올까요? 제가 날씨를 직접 재는 게 아니라, Open-Meteo라는 무료 날씨 서버에 물어봐요. 이렇게 다른 서버에 질문하고 답을 받는 창구를 API라고 합니다. 식당에서 주문 창구에 주문하면 음식이 나오는 것과 비슷해요. 순서는 이래요. 1, 내가 '서울'을 검색하면 2, 지도 서버가 서울의 위도·경도 좌표를 알려주고 3, 그 좌표로 날씨 서버에 물어보면 온도, 습도 같은 숫자 데이터가 와요. 4, 앱이 그걸 보기 좋게 화면에 그려줍니다. 재밌는 점은 날씨 서버가 '맑음'이라고 말하지 않고 0, 61, 71 같은 숫자 코드로 대답한다는 거예요. 그래서 앱이 0이면 맑음과 해 아이콘, 61이면 비, 71이면 눈으로 번역해서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만든 과정을 간단히 보면, 5월에 Codex에게 원하는 날씨 앱을 설명해서 첫 화면과 기본 기능을 만들었어요. 7월에는 웹사이트로도 올려 보려고 했는데, 처음엔 기상청 API를 썼다가 브라우저의 보안 규칙(CORS) 때문에 웹에서 데이터를 못 받아오는 문제가 생겼어요. 우회하려고 중간 서버도 붙여 봤지만 결국 더 간단한 Open-Meteo로 바꿨습니다. 8월에는 Codex로 새 버전 Flutter에서 생기는 오류를 고치고 자동 테스트를 추가했고, 10월에는 Claude Code로 안드로이드 설치 파일이 자동으로 만들어져서 올라가게 설정했어요. 앱 코드는 약 1,300줄이고, 저장 기록은 33번 남았습니다.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만들면서 느낀 점이에요. 첫째, AI는 코드를 정말 빠르게 써 주지만, 무엇을 만들지 정하고 제대로 됐는지 확인하는 건 결국 제 몫이었어요. 둘째, 기상청 API처럼 막히는 부분이 생기면 계속 붙잡기보다 다른 길로 바꾸는 것도 방법이었고요. 셋째, 직접 써 보면서 고치는 걸 반복할수록 앱이 좋아졌습니다. 안드로이드 폰이 있으면 오른쪽 QR 코드를 찍어서 직접 설치해 볼 수 있어요. 설치할 때 '출처를 알 수 없는 앱' 허용이 필요하고, 아이폰은 아직 안 됩니다. 들어 주셔서 감사합니다. 질문 있으면 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91640"/>
            <a:ext cx="4937760" cy="8229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560320"/>
            <a:ext cx="4937760" cy="45720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548640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slideLayout" Target="../slideLayouts/slideLayout2.xml"/><Relationship Id="rId1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slideLayout" Target="../slideLayouts/slideLayout3.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chip"/>
          <p:cNvSpPr/>
          <p:nvPr/>
        </p:nvSpPr>
        <p:spPr>
          <a:xfrm>
            <a:off x="548640" y="1143000"/>
            <a:ext cx="3200400" cy="347472"/>
          </a:xfrm>
          <a:prstGeom prst="roundRect">
            <a:avLst>
              <a:gd name="adj" fmla="val 50000"/>
            </a:avLst>
          </a:prstGeom>
          <a:solidFill>
            <a:schemeClr val="accent2"/>
          </a:solidFill>
          <a:ln/>
        </p:spPr>
      </p:sp>
      <p:sp>
        <p:nvSpPr>
          <p:cNvPr id="3" name="tag text"/>
          <p:cNvSpPr txBox="1"/>
          <p:nvPr/>
        </p:nvSpPr>
        <p:spPr>
          <a:xfrm>
            <a:off x="548640" y="1143000"/>
            <a:ext cx="3200400" cy="347472"/>
          </a:xfrm>
          <a:prstGeom prst="rect">
            <a:avLst/>
          </a:prstGeom>
          <a:noFill/>
          <a:ln/>
        </p:spPr>
        <p:txBody>
          <a:bodyPr wrap="square" lIns="0" tIns="0" rIns="0" bIns="0" rtlCol="0" anchor="ctr"/>
          <a:lstStyle/>
          <a:p>
            <a:pPr algn="ctr" indent="0" marL="0">
              <a:buNone/>
            </a:pPr>
            <a:r>
              <a:rPr lang="ko-KR" altLang="en-US" sz="1200" b="1" dirty="0">
                <a:solidFill>
                  <a:schemeClr val="tx1"/>
                </a:solidFill>
              </a:rPr>
              <a:t>동아리 발표 · 바이브 코딩 프로젝트</a:t>
            </a:r>
            <a:endParaRPr lang="ko-KR" sz="1200" dirty="0"/>
          </a:p>
        </p:txBody>
      </p:sp>
      <p:sp>
        <p:nvSpPr>
          <p:cNvPr id="4" name="Text 0"/>
          <p:cNvSpPr/>
          <p:nvPr>
            <p:ph idx="100" type="title" hasCustomPrompt="1"/>
          </p:nvPr>
        </p:nvSpPr>
        <p:spPr>
          <a:xfrm>
            <a:off x="548640" y="1691640"/>
            <a:ext cx="4937760" cy="822960"/>
          </a:xfrm>
          <a:prstGeom prst="rect">
            <a:avLst/>
          </a:prstGeom>
          <a:noFill/>
          <a:ln/>
        </p:spPr>
        <p:txBody>
          <a:bodyPr wrap="square" lIns="0" tIns="0" rIns="0" bIns="0" rtlCol="0" anchor="ctr"/>
          <a:lstStyle/>
          <a:p>
            <a:pPr algn="l" indent="0" marL="0">
              <a:buNone/>
            </a:pPr>
            <a:r>
              <a:rPr lang="en-US" sz="4800" b="1" dirty="0">
                <a:solidFill>
                  <a:schemeClr val="bg1"/>
                </a:solidFill>
              </a:rPr>
              <a:t>WeatherApp</a:t>
            </a:r>
            <a:endParaRPr lang="en-US" sz="4800" dirty="0"/>
          </a:p>
        </p:txBody>
      </p:sp>
      <p:sp>
        <p:nvSpPr>
          <p:cNvPr id="5" name="Text 0"/>
          <p:cNvSpPr/>
          <p:nvPr>
            <p:ph idx="101" type="body" hasCustomPrompt="1"/>
          </p:nvPr>
        </p:nvSpPr>
        <p:spPr>
          <a:xfrm>
            <a:off x="548640" y="2560320"/>
            <a:ext cx="4937760" cy="457200"/>
          </a:xfrm>
          <a:prstGeom prst="rect">
            <a:avLst/>
          </a:prstGeom>
          <a:noFill/>
          <a:ln/>
        </p:spPr>
        <p:txBody>
          <a:bodyPr wrap="square" lIns="0" tIns="0" rIns="0" bIns="0" rtlCol="0" anchor="ctr"/>
          <a:lstStyle/>
          <a:p>
            <a:pPr algn="l" indent="0" marL="0">
              <a:buNone/>
            </a:pPr>
            <a:r>
              <a:rPr lang="en-US" sz="2200" dirty="0">
                <a:solidFill>
                  <a:schemeClr val="bg2"/>
                </a:solidFill>
              </a:rPr>
              <a:t>Flutter로 만든 나만의 날씨 앱</a:t>
            </a:r>
            <a:endParaRPr lang="en-US" sz="2200" dirty="0"/>
          </a:p>
        </p:txBody>
      </p:sp>
      <p:sp>
        <p:nvSpPr>
          <p:cNvPr id="6" name="made with"/>
          <p:cNvSpPr txBox="1"/>
          <p:nvPr/>
        </p:nvSpPr>
        <p:spPr>
          <a:xfrm>
            <a:off x="548640" y="3063240"/>
            <a:ext cx="4937760" cy="365760"/>
          </a:xfrm>
          <a:prstGeom prst="rect">
            <a:avLst/>
          </a:prstGeom>
          <a:noFill/>
          <a:ln/>
        </p:spPr>
        <p:txBody>
          <a:bodyPr wrap="square" lIns="0" tIns="0" rIns="0" bIns="0" rtlCol="0" anchor="ctr"/>
          <a:lstStyle/>
          <a:p>
            <a:pPr indent="0" marL="0">
              <a:buNone/>
            </a:pPr>
            <a:r>
              <a:rPr lang="ko-KR" altLang="en-US" sz="1400" dirty="0">
                <a:solidFill>
                  <a:schemeClr val="accent2"/>
                </a:solidFill>
              </a:rPr>
              <a:t>Codex · Claude Code와 함께 만들었어요</a:t>
            </a:r>
            <a:endParaRPr lang="ko-KR" sz="1400" dirty="0"/>
          </a:p>
        </p:txBody>
      </p:sp>
      <p:sp>
        <p:nvSpPr>
          <p:cNvPr id="7" name="presenter"/>
          <p:cNvSpPr txBox="1"/>
          <p:nvPr/>
        </p:nvSpPr>
        <p:spPr>
          <a:xfrm>
            <a:off x="548640" y="4069080"/>
            <a:ext cx="3657600" cy="365760"/>
          </a:xfrm>
          <a:prstGeom prst="rect">
            <a:avLst/>
          </a:prstGeom>
          <a:noFill/>
          <a:ln/>
        </p:spPr>
        <p:txBody>
          <a:bodyPr wrap="square" lIns="0" tIns="0" rIns="0" bIns="0" rtlCol="0" anchor="ctr"/>
          <a:lstStyle/>
          <a:p>
            <a:pPr indent="0" marL="0">
              <a:buNone/>
            </a:pPr>
            <a:r>
              <a:rPr lang="ko-KR" altLang="en-US" sz="1600" b="1" dirty="0">
                <a:solidFill>
                  <a:schemeClr val="bg1"/>
                </a:solidFill>
              </a:rPr>
              <a:t>발표  정찬영</a:t>
            </a:r>
            <a:endParaRPr lang="ko-KR" sz="1600" dirty="0"/>
          </a:p>
        </p:txBody>
      </p:sp>
      <p:sp>
        <p:nvSpPr>
          <p:cNvPr id="8" name="sun motif"/>
          <p:cNvSpPr/>
          <p:nvPr/>
        </p:nvSpPr>
        <p:spPr>
          <a:xfrm>
            <a:off x="7086600" y="274320"/>
            <a:ext cx="1554480" cy="1554480"/>
          </a:xfrm>
          <a:prstGeom prst="ellipse">
            <a:avLst/>
          </a:prstGeom>
          <a:solidFill>
            <a:schemeClr val="accent2">
              <a:alpha val="75000"/>
            </a:schemeClr>
          </a:solidFill>
          <a:ln/>
        </p:spPr>
      </p:sp>
      <p:sp>
        <p:nvSpPr>
          <p:cNvPr id="9" name="phone frame"/>
          <p:cNvSpPr/>
          <p:nvPr/>
        </p:nvSpPr>
        <p:spPr>
          <a:xfrm>
            <a:off x="5760720" y="548640"/>
            <a:ext cx="2103120" cy="4101084"/>
          </a:xfrm>
          <a:prstGeom prst="roundRect">
            <a:avLst>
              <a:gd name="adj" fmla="val 13043"/>
            </a:avLst>
          </a:prstGeom>
          <a:solidFill>
            <a:schemeClr val="tx2"/>
          </a:solidFill>
          <a:ln/>
        </p:spPr>
      </p:sp>
      <p:sp>
        <p:nvSpPr>
          <p:cNvPr id="10" name="phone screen"/>
          <p:cNvSpPr/>
          <p:nvPr/>
        </p:nvSpPr>
        <p:spPr>
          <a:xfrm>
            <a:off x="5852160" y="731520"/>
            <a:ext cx="1920240" cy="3735324"/>
          </a:xfrm>
          <a:prstGeom prst="roundRect">
            <a:avLst>
              <a:gd name="adj" fmla="val 10476"/>
            </a:avLst>
          </a:prstGeom>
          <a:solidFill>
            <a:schemeClr val="bg2"/>
          </a:solidFill>
          <a:ln/>
        </p:spPr>
      </p:sp>
      <p:sp>
        <p:nvSpPr>
          <p:cNvPr id="11" name="app bar"/>
          <p:cNvSpPr txBox="1"/>
          <p:nvPr/>
        </p:nvSpPr>
        <p:spPr>
          <a:xfrm>
            <a:off x="5943600" y="786384"/>
            <a:ext cx="1737360" cy="201168"/>
          </a:xfrm>
          <a:prstGeom prst="rect">
            <a:avLst/>
          </a:prstGeom>
          <a:noFill/>
          <a:ln/>
        </p:spPr>
        <p:txBody>
          <a:bodyPr wrap="square" lIns="0" tIns="0" rIns="0" bIns="0" rtlCol="0" anchor="ctr"/>
          <a:lstStyle/>
          <a:p>
            <a:pPr indent="0" marL="0">
              <a:buNone/>
            </a:pPr>
            <a:r>
              <a:rPr lang="ko-KR" altLang="en-US" sz="800" b="1" dirty="0">
                <a:solidFill>
                  <a:schemeClr val="tx1"/>
                </a:solidFill>
              </a:rPr>
              <a:t>WeatherApp</a:t>
            </a:r>
            <a:endParaRPr lang="ko-KR" sz="800" dirty="0"/>
          </a:p>
        </p:txBody>
      </p:sp>
      <p:sp>
        <p:nvSpPr>
          <p:cNvPr id="12" name="search bar"/>
          <p:cNvSpPr/>
          <p:nvPr/>
        </p:nvSpPr>
        <p:spPr>
          <a:xfrm>
            <a:off x="5943600" y="1024128"/>
            <a:ext cx="1737360" cy="256032"/>
          </a:xfrm>
          <a:prstGeom prst="roundRect">
            <a:avLst>
              <a:gd name="adj" fmla="val 50000"/>
            </a:avLst>
          </a:prstGeom>
          <a:solidFill>
            <a:schemeClr val="bg1"/>
          </a:solidFill>
          <a:ln w="6350">
            <a:solidFill>
              <a:srgbClr val="8A9AB0"/>
            </a:solidFill>
            <a:prstDash val="solid"/>
          </a:ln>
        </p:spPr>
      </p:sp>
      <p:pic>
        <p:nvPicPr>
          <p:cNvPr id="13" name="search icon" descr="검색">    </p:cNvPr>
          <p:cNvPicPr>
            <a:picLocks noChangeAspect="1"/>
          </p:cNvPicPr>
          <p:nvPr/>
        </p:nvPicPr>
        <p:blipFill>
          <a:blip r:embed="rId1"/>
          <a:stretch>
            <a:fillRect/>
          </a:stretch>
        </p:blipFill>
        <p:spPr>
          <a:xfrm>
            <a:off x="6016752" y="1069848"/>
            <a:ext cx="164592" cy="164592"/>
          </a:xfrm>
          <a:prstGeom prst="rect">
            <a:avLst/>
          </a:prstGeom>
        </p:spPr>
      </p:pic>
      <p:sp>
        <p:nvSpPr>
          <p:cNvPr id="14" name="search text"/>
          <p:cNvSpPr txBox="1"/>
          <p:nvPr/>
        </p:nvSpPr>
        <p:spPr>
          <a:xfrm>
            <a:off x="6236208" y="1024128"/>
            <a:ext cx="1371600" cy="256032"/>
          </a:xfrm>
          <a:prstGeom prst="rect">
            <a:avLst/>
          </a:prstGeom>
          <a:noFill/>
          <a:ln/>
        </p:spPr>
        <p:txBody>
          <a:bodyPr wrap="square" lIns="0" tIns="0" rIns="0" bIns="0" rtlCol="0" anchor="ctr"/>
          <a:lstStyle/>
          <a:p>
            <a:pPr indent="0" marL="0">
              <a:buNone/>
            </a:pPr>
            <a:r>
              <a:rPr lang="ko-KR" altLang="en-US" sz="750" dirty="0">
                <a:solidFill>
                  <a:schemeClr val="tx1"/>
                </a:solidFill>
              </a:rPr>
              <a:t>서울</a:t>
            </a:r>
            <a:endParaRPr lang="ko-KR" sz="750" dirty="0"/>
          </a:p>
        </p:txBody>
      </p:sp>
      <p:sp>
        <p:nvSpPr>
          <p:cNvPr id="15" name="current card"/>
          <p:cNvSpPr/>
          <p:nvPr/>
        </p:nvSpPr>
        <p:spPr>
          <a:xfrm>
            <a:off x="5943600" y="1371600"/>
            <a:ext cx="1737360" cy="1051560"/>
          </a:xfrm>
          <a:prstGeom prst="roundRect">
            <a:avLst>
              <a:gd name="adj" fmla="val 13913"/>
            </a:avLst>
          </a:prstGeom>
          <a:solidFill>
            <a:schemeClr val="accent1">
              <a:alpha val="25000"/>
            </a:schemeClr>
          </a:solidFill>
          <a:ln/>
        </p:spPr>
      </p:sp>
      <p:sp>
        <p:nvSpPr>
          <p:cNvPr id="16" name="card place"/>
          <p:cNvSpPr txBox="1"/>
          <p:nvPr/>
        </p:nvSpPr>
        <p:spPr>
          <a:xfrm>
            <a:off x="6053328" y="1444752"/>
            <a:ext cx="1188720" cy="182880"/>
          </a:xfrm>
          <a:prstGeom prst="rect">
            <a:avLst/>
          </a:prstGeom>
          <a:noFill/>
          <a:ln/>
        </p:spPr>
        <p:txBody>
          <a:bodyPr wrap="square" lIns="0" tIns="0" rIns="0" bIns="0" rtlCol="0" anchor="ctr"/>
          <a:lstStyle/>
          <a:p>
            <a:pPr indent="0" marL="0">
              <a:buNone/>
            </a:pPr>
            <a:r>
              <a:rPr lang="ko-KR" altLang="en-US" sz="700" b="1" dirty="0">
                <a:solidFill>
                  <a:schemeClr val="tx1"/>
                </a:solidFill>
              </a:rPr>
              <a:t>서울, 대한민국</a:t>
            </a:r>
            <a:endParaRPr lang="ko-KR" sz="700" dirty="0"/>
          </a:p>
        </p:txBody>
      </p:sp>
      <p:sp>
        <p:nvSpPr>
          <p:cNvPr id="17" name="card temp"/>
          <p:cNvSpPr txBox="1"/>
          <p:nvPr/>
        </p:nvSpPr>
        <p:spPr>
          <a:xfrm>
            <a:off x="6035040" y="1645920"/>
            <a:ext cx="914400" cy="502920"/>
          </a:xfrm>
          <a:prstGeom prst="rect">
            <a:avLst/>
          </a:prstGeom>
          <a:noFill/>
          <a:ln/>
        </p:spPr>
        <p:txBody>
          <a:bodyPr wrap="square" lIns="0" tIns="0" rIns="0" bIns="0" rtlCol="0" anchor="ctr"/>
          <a:lstStyle/>
          <a:p>
            <a:pPr indent="0" marL="0">
              <a:buNone/>
            </a:pPr>
            <a:r>
              <a:rPr lang="ko-KR" altLang="en-US" sz="3000" dirty="0">
                <a:solidFill>
                  <a:schemeClr val="tx1"/>
                </a:solidFill>
              </a:rPr>
              <a:t>18°</a:t>
            </a:r>
            <a:endParaRPr lang="ko-KR" sz="3000" dirty="0"/>
          </a:p>
        </p:txBody>
      </p:sp>
      <p:sp>
        <p:nvSpPr>
          <p:cNvPr id="18" name="card feels"/>
          <p:cNvSpPr txBox="1"/>
          <p:nvPr/>
        </p:nvSpPr>
        <p:spPr>
          <a:xfrm>
            <a:off x="6053328" y="2176272"/>
            <a:ext cx="914400" cy="164592"/>
          </a:xfrm>
          <a:prstGeom prst="rect">
            <a:avLst/>
          </a:prstGeom>
          <a:noFill/>
          <a:ln/>
        </p:spPr>
        <p:txBody>
          <a:bodyPr wrap="square" lIns="0" tIns="0" rIns="0" bIns="0" rtlCol="0" anchor="ctr"/>
          <a:lstStyle/>
          <a:p>
            <a:pPr indent="0" marL="0">
              <a:buNone/>
            </a:pPr>
            <a:r>
              <a:rPr lang="ko-KR" altLang="en-US" sz="650" dirty="0">
                <a:solidFill>
                  <a:schemeClr val="tx2"/>
                </a:solidFill>
              </a:rPr>
              <a:t>체감 17°</a:t>
            </a:r>
            <a:endParaRPr lang="ko-KR" sz="650" dirty="0"/>
          </a:p>
        </p:txBody>
      </p:sp>
      <p:pic>
        <p:nvPicPr>
          <p:cNvPr id="19" name="card sun" descr="맑음 아이콘">    </p:cNvPr>
          <p:cNvPicPr>
            <a:picLocks noChangeAspect="1"/>
          </p:cNvPicPr>
          <p:nvPr/>
        </p:nvPicPr>
        <p:blipFill>
          <a:blip r:embed="rId2"/>
          <a:stretch>
            <a:fillRect/>
          </a:stretch>
        </p:blipFill>
        <p:spPr>
          <a:xfrm>
            <a:off x="7059168" y="1572768"/>
            <a:ext cx="457200" cy="457200"/>
          </a:xfrm>
          <a:prstGeom prst="rect">
            <a:avLst/>
          </a:prstGeom>
        </p:spPr>
      </p:pic>
      <p:sp>
        <p:nvSpPr>
          <p:cNvPr id="20" name="card label"/>
          <p:cNvSpPr txBox="1"/>
          <p:nvPr/>
        </p:nvSpPr>
        <p:spPr>
          <a:xfrm>
            <a:off x="6967728" y="2066544"/>
            <a:ext cx="640080" cy="182880"/>
          </a:xfrm>
          <a:prstGeom prst="rect">
            <a:avLst/>
          </a:prstGeom>
          <a:noFill/>
          <a:ln/>
        </p:spPr>
        <p:txBody>
          <a:bodyPr wrap="square" lIns="0" tIns="0" rIns="0" bIns="0" rtlCol="0" anchor="ctr"/>
          <a:lstStyle/>
          <a:p>
            <a:pPr algn="ctr" indent="0" marL="0">
              <a:buNone/>
            </a:pPr>
            <a:r>
              <a:rPr lang="ko-KR" altLang="en-US" sz="750" b="1" dirty="0">
                <a:solidFill>
                  <a:schemeClr val="tx1"/>
                </a:solidFill>
              </a:rPr>
              <a:t>맑음</a:t>
            </a:r>
            <a:endParaRPr lang="ko-KR" sz="750" dirty="0"/>
          </a:p>
        </p:txBody>
      </p:sp>
      <p:sp>
        <p:nvSpPr>
          <p:cNvPr id="21" name="metric tile 1"/>
          <p:cNvSpPr/>
          <p:nvPr/>
        </p:nvSpPr>
        <p:spPr>
          <a:xfrm>
            <a:off x="5943600" y="2514600"/>
            <a:ext cx="400050" cy="438912"/>
          </a:xfrm>
          <a:prstGeom prst="roundRect">
            <a:avLst>
              <a:gd name="adj" fmla="val 18286"/>
            </a:avLst>
          </a:prstGeom>
          <a:solidFill>
            <a:schemeClr val="bg1"/>
          </a:solidFill>
          <a:ln/>
        </p:spPr>
      </p:sp>
      <p:pic>
        <p:nvPicPr>
          <p:cNvPr id="22" name="metric icon 1" descr="지표 아이콘">    </p:cNvPr>
          <p:cNvPicPr>
            <a:picLocks noChangeAspect="1"/>
          </p:cNvPicPr>
          <p:nvPr/>
        </p:nvPicPr>
        <p:blipFill>
          <a:blip r:embed="rId3"/>
          <a:stretch>
            <a:fillRect/>
          </a:stretch>
        </p:blipFill>
        <p:spPr>
          <a:xfrm>
            <a:off x="6061329" y="2560320"/>
            <a:ext cx="164592" cy="164592"/>
          </a:xfrm>
          <a:prstGeom prst="rect">
            <a:avLst/>
          </a:prstGeom>
        </p:spPr>
      </p:pic>
      <p:sp>
        <p:nvSpPr>
          <p:cNvPr id="23" name="metric value 1"/>
          <p:cNvSpPr txBox="1"/>
          <p:nvPr/>
        </p:nvSpPr>
        <p:spPr>
          <a:xfrm>
            <a:off x="5943600" y="2743200"/>
            <a:ext cx="400050" cy="164592"/>
          </a:xfrm>
          <a:prstGeom prst="rect">
            <a:avLst/>
          </a:prstGeom>
          <a:noFill/>
          <a:ln/>
        </p:spPr>
        <p:txBody>
          <a:bodyPr wrap="square" lIns="0" tIns="0" rIns="0" bIns="0" rtlCol="0" anchor="ctr"/>
          <a:lstStyle/>
          <a:p>
            <a:pPr algn="ctr" indent="0" marL="0">
              <a:buNone/>
            </a:pPr>
            <a:r>
              <a:rPr lang="ko-KR" altLang="en-US" sz="650" dirty="0">
                <a:solidFill>
                  <a:schemeClr val="tx1"/>
                </a:solidFill>
              </a:rPr>
              <a:t>17°</a:t>
            </a:r>
            <a:endParaRPr lang="ko-KR" sz="650" dirty="0"/>
          </a:p>
        </p:txBody>
      </p:sp>
      <p:sp>
        <p:nvSpPr>
          <p:cNvPr id="24" name="metric tile 2"/>
          <p:cNvSpPr/>
          <p:nvPr/>
        </p:nvSpPr>
        <p:spPr>
          <a:xfrm>
            <a:off x="6389370" y="2514600"/>
            <a:ext cx="400050" cy="438912"/>
          </a:xfrm>
          <a:prstGeom prst="roundRect">
            <a:avLst>
              <a:gd name="adj" fmla="val 18286"/>
            </a:avLst>
          </a:prstGeom>
          <a:solidFill>
            <a:schemeClr val="bg1"/>
          </a:solidFill>
          <a:ln/>
        </p:spPr>
      </p:sp>
      <p:pic>
        <p:nvPicPr>
          <p:cNvPr id="25" name="metric icon 2" descr="지표 아이콘">    </p:cNvPr>
          <p:cNvPicPr>
            <a:picLocks noChangeAspect="1"/>
          </p:cNvPicPr>
          <p:nvPr/>
        </p:nvPicPr>
        <p:blipFill>
          <a:blip r:embed="rId4"/>
          <a:stretch>
            <a:fillRect/>
          </a:stretch>
        </p:blipFill>
        <p:spPr>
          <a:xfrm>
            <a:off x="6507099" y="2560320"/>
            <a:ext cx="164592" cy="164592"/>
          </a:xfrm>
          <a:prstGeom prst="rect">
            <a:avLst/>
          </a:prstGeom>
        </p:spPr>
      </p:pic>
      <p:sp>
        <p:nvSpPr>
          <p:cNvPr id="26" name="metric value 2"/>
          <p:cNvSpPr txBox="1"/>
          <p:nvPr/>
        </p:nvSpPr>
        <p:spPr>
          <a:xfrm>
            <a:off x="6389370" y="2743200"/>
            <a:ext cx="400050" cy="164592"/>
          </a:xfrm>
          <a:prstGeom prst="rect">
            <a:avLst/>
          </a:prstGeom>
          <a:noFill/>
          <a:ln/>
        </p:spPr>
        <p:txBody>
          <a:bodyPr wrap="square" lIns="0" tIns="0" rIns="0" bIns="0" rtlCol="0" anchor="ctr"/>
          <a:lstStyle/>
          <a:p>
            <a:pPr algn="ctr" indent="0" marL="0">
              <a:buNone/>
            </a:pPr>
            <a:r>
              <a:rPr lang="ko-KR" altLang="en-US" sz="650" dirty="0">
                <a:solidFill>
                  <a:schemeClr val="tx1"/>
                </a:solidFill>
              </a:rPr>
              <a:t>45%</a:t>
            </a:r>
            <a:endParaRPr lang="ko-KR" sz="650" dirty="0"/>
          </a:p>
        </p:txBody>
      </p:sp>
      <p:sp>
        <p:nvSpPr>
          <p:cNvPr id="27" name="metric tile 3"/>
          <p:cNvSpPr/>
          <p:nvPr/>
        </p:nvSpPr>
        <p:spPr>
          <a:xfrm>
            <a:off x="6835140" y="2514600"/>
            <a:ext cx="400050" cy="438912"/>
          </a:xfrm>
          <a:prstGeom prst="roundRect">
            <a:avLst>
              <a:gd name="adj" fmla="val 18286"/>
            </a:avLst>
          </a:prstGeom>
          <a:solidFill>
            <a:schemeClr val="bg1"/>
          </a:solidFill>
          <a:ln/>
        </p:spPr>
      </p:sp>
      <p:pic>
        <p:nvPicPr>
          <p:cNvPr id="28" name="metric icon 3" descr="지표 아이콘">    </p:cNvPr>
          <p:cNvPicPr>
            <a:picLocks noChangeAspect="1"/>
          </p:cNvPicPr>
          <p:nvPr/>
        </p:nvPicPr>
        <p:blipFill>
          <a:blip r:embed="rId5"/>
          <a:stretch>
            <a:fillRect/>
          </a:stretch>
        </p:blipFill>
        <p:spPr>
          <a:xfrm>
            <a:off x="6952869" y="2560320"/>
            <a:ext cx="164592" cy="164592"/>
          </a:xfrm>
          <a:prstGeom prst="rect">
            <a:avLst/>
          </a:prstGeom>
        </p:spPr>
      </p:pic>
      <p:sp>
        <p:nvSpPr>
          <p:cNvPr id="29" name="metric value 3"/>
          <p:cNvSpPr txBox="1"/>
          <p:nvPr/>
        </p:nvSpPr>
        <p:spPr>
          <a:xfrm>
            <a:off x="6835140" y="2743200"/>
            <a:ext cx="400050" cy="164592"/>
          </a:xfrm>
          <a:prstGeom prst="rect">
            <a:avLst/>
          </a:prstGeom>
          <a:noFill/>
          <a:ln/>
        </p:spPr>
        <p:txBody>
          <a:bodyPr wrap="square" lIns="0" tIns="0" rIns="0" bIns="0" rtlCol="0" anchor="ctr"/>
          <a:lstStyle/>
          <a:p>
            <a:pPr algn="ctr" indent="0" marL="0">
              <a:buNone/>
            </a:pPr>
            <a:r>
              <a:rPr lang="ko-KR" altLang="en-US" sz="650" dirty="0">
                <a:solidFill>
                  <a:schemeClr val="tx1"/>
                </a:solidFill>
              </a:rPr>
              <a:t>2m/s</a:t>
            </a:r>
            <a:endParaRPr lang="ko-KR" sz="650" dirty="0"/>
          </a:p>
        </p:txBody>
      </p:sp>
      <p:sp>
        <p:nvSpPr>
          <p:cNvPr id="30" name="metric tile 4"/>
          <p:cNvSpPr/>
          <p:nvPr/>
        </p:nvSpPr>
        <p:spPr>
          <a:xfrm>
            <a:off x="7280910" y="2514600"/>
            <a:ext cx="400050" cy="438912"/>
          </a:xfrm>
          <a:prstGeom prst="roundRect">
            <a:avLst>
              <a:gd name="adj" fmla="val 18286"/>
            </a:avLst>
          </a:prstGeom>
          <a:solidFill>
            <a:schemeClr val="bg1"/>
          </a:solidFill>
          <a:ln/>
        </p:spPr>
      </p:sp>
      <p:pic>
        <p:nvPicPr>
          <p:cNvPr id="31" name="metric icon 4" descr="지표 아이콘">    </p:cNvPr>
          <p:cNvPicPr>
            <a:picLocks noChangeAspect="1"/>
          </p:cNvPicPr>
          <p:nvPr/>
        </p:nvPicPr>
        <p:blipFill>
          <a:blip r:embed="rId6"/>
          <a:stretch>
            <a:fillRect/>
          </a:stretch>
        </p:blipFill>
        <p:spPr>
          <a:xfrm>
            <a:off x="7398639" y="2560320"/>
            <a:ext cx="164592" cy="164592"/>
          </a:xfrm>
          <a:prstGeom prst="rect">
            <a:avLst/>
          </a:prstGeom>
        </p:spPr>
      </p:pic>
      <p:sp>
        <p:nvSpPr>
          <p:cNvPr id="32" name="metric value 4"/>
          <p:cNvSpPr txBox="1"/>
          <p:nvPr/>
        </p:nvSpPr>
        <p:spPr>
          <a:xfrm>
            <a:off x="7280910" y="2743200"/>
            <a:ext cx="400050" cy="164592"/>
          </a:xfrm>
          <a:prstGeom prst="rect">
            <a:avLst/>
          </a:prstGeom>
          <a:noFill/>
          <a:ln/>
        </p:spPr>
        <p:txBody>
          <a:bodyPr wrap="square" lIns="0" tIns="0" rIns="0" bIns="0" rtlCol="0" anchor="ctr"/>
          <a:lstStyle/>
          <a:p>
            <a:pPr algn="ctr" indent="0" marL="0">
              <a:buNone/>
            </a:pPr>
            <a:r>
              <a:rPr lang="ko-KR" altLang="en-US" sz="650" dirty="0">
                <a:solidFill>
                  <a:schemeClr val="tx1"/>
                </a:solidFill>
              </a:rPr>
              <a:t>0mm</a:t>
            </a:r>
            <a:endParaRPr lang="ko-KR" sz="650" dirty="0"/>
          </a:p>
        </p:txBody>
      </p:sp>
      <p:sp>
        <p:nvSpPr>
          <p:cNvPr id="33" name="hourly card"/>
          <p:cNvSpPr/>
          <p:nvPr/>
        </p:nvSpPr>
        <p:spPr>
          <a:xfrm>
            <a:off x="5943600" y="3044952"/>
            <a:ext cx="1737360" cy="640080"/>
          </a:xfrm>
          <a:prstGeom prst="roundRect">
            <a:avLst>
              <a:gd name="adj" fmla="val 14286"/>
            </a:avLst>
          </a:prstGeom>
          <a:solidFill>
            <a:schemeClr val="bg1"/>
          </a:solidFill>
          <a:ln/>
        </p:spPr>
      </p:sp>
      <p:sp>
        <p:nvSpPr>
          <p:cNvPr id="34" name="hourly title"/>
          <p:cNvSpPr txBox="1"/>
          <p:nvPr/>
        </p:nvSpPr>
        <p:spPr>
          <a:xfrm>
            <a:off x="6035040" y="3081528"/>
            <a:ext cx="1097280" cy="146304"/>
          </a:xfrm>
          <a:prstGeom prst="rect">
            <a:avLst/>
          </a:prstGeom>
          <a:noFill/>
          <a:ln/>
        </p:spPr>
        <p:txBody>
          <a:bodyPr wrap="square" lIns="0" tIns="0" rIns="0" bIns="0" rtlCol="0" anchor="ctr"/>
          <a:lstStyle/>
          <a:p>
            <a:pPr indent="0" marL="0">
              <a:buNone/>
            </a:pPr>
            <a:r>
              <a:rPr lang="ko-KR" altLang="en-US" sz="600" b="1" dirty="0">
                <a:solidFill>
                  <a:schemeClr val="tx1"/>
                </a:solidFill>
              </a:rPr>
              <a:t>시간별 예보</a:t>
            </a:r>
            <a:endParaRPr lang="ko-KR" sz="600" dirty="0"/>
          </a:p>
        </p:txBody>
      </p:sp>
      <p:sp>
        <p:nvSpPr>
          <p:cNvPr id="35" name="hour time 1"/>
          <p:cNvSpPr txBox="1"/>
          <p:nvPr/>
        </p:nvSpPr>
        <p:spPr>
          <a:xfrm>
            <a:off x="5943600" y="3227832"/>
            <a:ext cx="347472" cy="128016"/>
          </a:xfrm>
          <a:prstGeom prst="rect">
            <a:avLst/>
          </a:prstGeom>
          <a:noFill/>
          <a:ln/>
        </p:spPr>
        <p:txBody>
          <a:bodyPr wrap="square" lIns="0" tIns="0" rIns="0" bIns="0" rtlCol="0" anchor="ctr"/>
          <a:lstStyle/>
          <a:p>
            <a:pPr algn="ctr" indent="0" marL="0">
              <a:buNone/>
            </a:pPr>
            <a:r>
              <a:rPr lang="ko-KR" altLang="en-US" sz="550" dirty="0">
                <a:solidFill>
                  <a:schemeClr val="tx2"/>
                </a:solidFill>
              </a:rPr>
              <a:t>15시</a:t>
            </a:r>
            <a:endParaRPr lang="ko-KR" sz="550" dirty="0"/>
          </a:p>
        </p:txBody>
      </p:sp>
      <p:pic>
        <p:nvPicPr>
          <p:cNvPr id="36" name="hour icon 1" descr="날씨 아이콘">    </p:cNvPr>
          <p:cNvPicPr>
            <a:picLocks noChangeAspect="1"/>
          </p:cNvPicPr>
          <p:nvPr/>
        </p:nvPicPr>
        <p:blipFill>
          <a:blip r:embed="rId7"/>
          <a:stretch>
            <a:fillRect/>
          </a:stretch>
        </p:blipFill>
        <p:spPr>
          <a:xfrm>
            <a:off x="6044184" y="3364992"/>
            <a:ext cx="146304" cy="146304"/>
          </a:xfrm>
          <a:prstGeom prst="rect">
            <a:avLst/>
          </a:prstGeom>
        </p:spPr>
      </p:pic>
      <p:sp>
        <p:nvSpPr>
          <p:cNvPr id="37" name="hour temp 1"/>
          <p:cNvSpPr txBox="1"/>
          <p:nvPr/>
        </p:nvSpPr>
        <p:spPr>
          <a:xfrm>
            <a:off x="5943600" y="3520440"/>
            <a:ext cx="347472" cy="128016"/>
          </a:xfrm>
          <a:prstGeom prst="rect">
            <a:avLst/>
          </a:prstGeom>
          <a:noFill/>
          <a:ln/>
        </p:spPr>
        <p:txBody>
          <a:bodyPr wrap="square" lIns="0" tIns="0" rIns="0" bIns="0" rtlCol="0" anchor="ctr"/>
          <a:lstStyle/>
          <a:p>
            <a:pPr algn="ctr" indent="0" marL="0">
              <a:buNone/>
            </a:pPr>
            <a:r>
              <a:rPr lang="ko-KR" altLang="en-US" sz="600" dirty="0">
                <a:solidFill>
                  <a:schemeClr val="tx1"/>
                </a:solidFill>
              </a:rPr>
              <a:t>18°</a:t>
            </a:r>
            <a:endParaRPr lang="ko-KR" sz="600" dirty="0"/>
          </a:p>
        </p:txBody>
      </p:sp>
      <p:sp>
        <p:nvSpPr>
          <p:cNvPr id="38" name="hour time 2"/>
          <p:cNvSpPr txBox="1"/>
          <p:nvPr/>
        </p:nvSpPr>
        <p:spPr>
          <a:xfrm>
            <a:off x="6291072" y="3227832"/>
            <a:ext cx="347472" cy="128016"/>
          </a:xfrm>
          <a:prstGeom prst="rect">
            <a:avLst/>
          </a:prstGeom>
          <a:noFill/>
          <a:ln/>
        </p:spPr>
        <p:txBody>
          <a:bodyPr wrap="square" lIns="0" tIns="0" rIns="0" bIns="0" rtlCol="0" anchor="ctr"/>
          <a:lstStyle/>
          <a:p>
            <a:pPr algn="ctr" indent="0" marL="0">
              <a:buNone/>
            </a:pPr>
            <a:r>
              <a:rPr lang="ko-KR" altLang="en-US" sz="550" dirty="0">
                <a:solidFill>
                  <a:schemeClr val="tx2"/>
                </a:solidFill>
              </a:rPr>
              <a:t>16시</a:t>
            </a:r>
            <a:endParaRPr lang="ko-KR" sz="550" dirty="0"/>
          </a:p>
        </p:txBody>
      </p:sp>
      <p:pic>
        <p:nvPicPr>
          <p:cNvPr id="39" name="hour icon 2" descr="날씨 아이콘">    </p:cNvPr>
          <p:cNvPicPr>
            <a:picLocks noChangeAspect="1"/>
          </p:cNvPicPr>
          <p:nvPr/>
        </p:nvPicPr>
        <p:blipFill>
          <a:blip r:embed="rId8"/>
          <a:stretch>
            <a:fillRect/>
          </a:stretch>
        </p:blipFill>
        <p:spPr>
          <a:xfrm>
            <a:off x="6391656" y="3364992"/>
            <a:ext cx="146304" cy="146304"/>
          </a:xfrm>
          <a:prstGeom prst="rect">
            <a:avLst/>
          </a:prstGeom>
        </p:spPr>
      </p:pic>
      <p:sp>
        <p:nvSpPr>
          <p:cNvPr id="40" name="hour temp 2"/>
          <p:cNvSpPr txBox="1"/>
          <p:nvPr/>
        </p:nvSpPr>
        <p:spPr>
          <a:xfrm>
            <a:off x="6291072" y="3520440"/>
            <a:ext cx="347472" cy="128016"/>
          </a:xfrm>
          <a:prstGeom prst="rect">
            <a:avLst/>
          </a:prstGeom>
          <a:noFill/>
          <a:ln/>
        </p:spPr>
        <p:txBody>
          <a:bodyPr wrap="square" lIns="0" tIns="0" rIns="0" bIns="0" rtlCol="0" anchor="ctr"/>
          <a:lstStyle/>
          <a:p>
            <a:pPr algn="ctr" indent="0" marL="0">
              <a:buNone/>
            </a:pPr>
            <a:r>
              <a:rPr lang="ko-KR" altLang="en-US" sz="600" dirty="0">
                <a:solidFill>
                  <a:schemeClr val="tx1"/>
                </a:solidFill>
              </a:rPr>
              <a:t>18°</a:t>
            </a:r>
            <a:endParaRPr lang="ko-KR" sz="600" dirty="0"/>
          </a:p>
        </p:txBody>
      </p:sp>
      <p:sp>
        <p:nvSpPr>
          <p:cNvPr id="41" name="hour time 3"/>
          <p:cNvSpPr txBox="1"/>
          <p:nvPr/>
        </p:nvSpPr>
        <p:spPr>
          <a:xfrm>
            <a:off x="6638544" y="3227832"/>
            <a:ext cx="347472" cy="128016"/>
          </a:xfrm>
          <a:prstGeom prst="rect">
            <a:avLst/>
          </a:prstGeom>
          <a:noFill/>
          <a:ln/>
        </p:spPr>
        <p:txBody>
          <a:bodyPr wrap="square" lIns="0" tIns="0" rIns="0" bIns="0" rtlCol="0" anchor="ctr"/>
          <a:lstStyle/>
          <a:p>
            <a:pPr algn="ctr" indent="0" marL="0">
              <a:buNone/>
            </a:pPr>
            <a:r>
              <a:rPr lang="ko-KR" altLang="en-US" sz="550" dirty="0">
                <a:solidFill>
                  <a:schemeClr val="tx2"/>
                </a:solidFill>
              </a:rPr>
              <a:t>17시</a:t>
            </a:r>
            <a:endParaRPr lang="ko-KR" sz="550" dirty="0"/>
          </a:p>
        </p:txBody>
      </p:sp>
      <p:pic>
        <p:nvPicPr>
          <p:cNvPr id="42" name="hour icon 3" descr="날씨 아이콘">    </p:cNvPr>
          <p:cNvPicPr>
            <a:picLocks noChangeAspect="1"/>
          </p:cNvPicPr>
          <p:nvPr/>
        </p:nvPicPr>
        <p:blipFill>
          <a:blip r:embed="rId9"/>
          <a:stretch>
            <a:fillRect/>
          </a:stretch>
        </p:blipFill>
        <p:spPr>
          <a:xfrm>
            <a:off x="6739128" y="3364992"/>
            <a:ext cx="146304" cy="146304"/>
          </a:xfrm>
          <a:prstGeom prst="rect">
            <a:avLst/>
          </a:prstGeom>
        </p:spPr>
      </p:pic>
      <p:sp>
        <p:nvSpPr>
          <p:cNvPr id="43" name="hour temp 3"/>
          <p:cNvSpPr txBox="1"/>
          <p:nvPr/>
        </p:nvSpPr>
        <p:spPr>
          <a:xfrm>
            <a:off x="6638544" y="3520440"/>
            <a:ext cx="347472" cy="128016"/>
          </a:xfrm>
          <a:prstGeom prst="rect">
            <a:avLst/>
          </a:prstGeom>
          <a:noFill/>
          <a:ln/>
        </p:spPr>
        <p:txBody>
          <a:bodyPr wrap="square" lIns="0" tIns="0" rIns="0" bIns="0" rtlCol="0" anchor="ctr"/>
          <a:lstStyle/>
          <a:p>
            <a:pPr algn="ctr" indent="0" marL="0">
              <a:buNone/>
            </a:pPr>
            <a:r>
              <a:rPr lang="ko-KR" altLang="en-US" sz="600" dirty="0">
                <a:solidFill>
                  <a:schemeClr val="tx1"/>
                </a:solidFill>
              </a:rPr>
              <a:t>17°</a:t>
            </a:r>
            <a:endParaRPr lang="ko-KR" sz="600" dirty="0"/>
          </a:p>
        </p:txBody>
      </p:sp>
      <p:sp>
        <p:nvSpPr>
          <p:cNvPr id="44" name="hour time 4"/>
          <p:cNvSpPr txBox="1"/>
          <p:nvPr/>
        </p:nvSpPr>
        <p:spPr>
          <a:xfrm>
            <a:off x="6986016" y="3227832"/>
            <a:ext cx="347472" cy="128016"/>
          </a:xfrm>
          <a:prstGeom prst="rect">
            <a:avLst/>
          </a:prstGeom>
          <a:noFill/>
          <a:ln/>
        </p:spPr>
        <p:txBody>
          <a:bodyPr wrap="square" lIns="0" tIns="0" rIns="0" bIns="0" rtlCol="0" anchor="ctr"/>
          <a:lstStyle/>
          <a:p>
            <a:pPr algn="ctr" indent="0" marL="0">
              <a:buNone/>
            </a:pPr>
            <a:r>
              <a:rPr lang="ko-KR" altLang="en-US" sz="550" dirty="0">
                <a:solidFill>
                  <a:schemeClr val="tx2"/>
                </a:solidFill>
              </a:rPr>
              <a:t>18시</a:t>
            </a:r>
            <a:endParaRPr lang="ko-KR" sz="550" dirty="0"/>
          </a:p>
        </p:txBody>
      </p:sp>
      <p:pic>
        <p:nvPicPr>
          <p:cNvPr id="45" name="hour icon 4" descr="날씨 아이콘">    </p:cNvPr>
          <p:cNvPicPr>
            <a:picLocks noChangeAspect="1"/>
          </p:cNvPicPr>
          <p:nvPr/>
        </p:nvPicPr>
        <p:blipFill>
          <a:blip r:embed="rId10"/>
          <a:stretch>
            <a:fillRect/>
          </a:stretch>
        </p:blipFill>
        <p:spPr>
          <a:xfrm>
            <a:off x="7086600" y="3364992"/>
            <a:ext cx="146304" cy="146304"/>
          </a:xfrm>
          <a:prstGeom prst="rect">
            <a:avLst/>
          </a:prstGeom>
        </p:spPr>
      </p:pic>
      <p:sp>
        <p:nvSpPr>
          <p:cNvPr id="46" name="hour temp 4"/>
          <p:cNvSpPr txBox="1"/>
          <p:nvPr/>
        </p:nvSpPr>
        <p:spPr>
          <a:xfrm>
            <a:off x="6986016" y="3520440"/>
            <a:ext cx="347472" cy="128016"/>
          </a:xfrm>
          <a:prstGeom prst="rect">
            <a:avLst/>
          </a:prstGeom>
          <a:noFill/>
          <a:ln/>
        </p:spPr>
        <p:txBody>
          <a:bodyPr wrap="square" lIns="0" tIns="0" rIns="0" bIns="0" rtlCol="0" anchor="ctr"/>
          <a:lstStyle/>
          <a:p>
            <a:pPr algn="ctr" indent="0" marL="0">
              <a:buNone/>
            </a:pPr>
            <a:r>
              <a:rPr lang="ko-KR" altLang="en-US" sz="600" dirty="0">
                <a:solidFill>
                  <a:schemeClr val="tx1"/>
                </a:solidFill>
              </a:rPr>
              <a:t>15°</a:t>
            </a:r>
            <a:endParaRPr lang="ko-KR" sz="600" dirty="0"/>
          </a:p>
        </p:txBody>
      </p:sp>
      <p:sp>
        <p:nvSpPr>
          <p:cNvPr id="47" name="hour time 5"/>
          <p:cNvSpPr txBox="1"/>
          <p:nvPr/>
        </p:nvSpPr>
        <p:spPr>
          <a:xfrm>
            <a:off x="7333488" y="3227832"/>
            <a:ext cx="347472" cy="128016"/>
          </a:xfrm>
          <a:prstGeom prst="rect">
            <a:avLst/>
          </a:prstGeom>
          <a:noFill/>
          <a:ln/>
        </p:spPr>
        <p:txBody>
          <a:bodyPr wrap="square" lIns="0" tIns="0" rIns="0" bIns="0" rtlCol="0" anchor="ctr"/>
          <a:lstStyle/>
          <a:p>
            <a:pPr algn="ctr" indent="0" marL="0">
              <a:buNone/>
            </a:pPr>
            <a:r>
              <a:rPr lang="ko-KR" altLang="en-US" sz="550" dirty="0">
                <a:solidFill>
                  <a:schemeClr val="tx2"/>
                </a:solidFill>
              </a:rPr>
              <a:t>19시</a:t>
            </a:r>
            <a:endParaRPr lang="ko-KR" sz="550" dirty="0"/>
          </a:p>
        </p:txBody>
      </p:sp>
      <p:pic>
        <p:nvPicPr>
          <p:cNvPr id="48" name="hour icon 5" descr="날씨 아이콘">    </p:cNvPr>
          <p:cNvPicPr>
            <a:picLocks noChangeAspect="1"/>
          </p:cNvPicPr>
          <p:nvPr/>
        </p:nvPicPr>
        <p:blipFill>
          <a:blip r:embed="rId11"/>
          <a:stretch>
            <a:fillRect/>
          </a:stretch>
        </p:blipFill>
        <p:spPr>
          <a:xfrm>
            <a:off x="7434072" y="3364992"/>
            <a:ext cx="146304" cy="146304"/>
          </a:xfrm>
          <a:prstGeom prst="rect">
            <a:avLst/>
          </a:prstGeom>
        </p:spPr>
      </p:pic>
      <p:sp>
        <p:nvSpPr>
          <p:cNvPr id="49" name="hour temp 5"/>
          <p:cNvSpPr txBox="1"/>
          <p:nvPr/>
        </p:nvSpPr>
        <p:spPr>
          <a:xfrm>
            <a:off x="7333488" y="3520440"/>
            <a:ext cx="347472" cy="128016"/>
          </a:xfrm>
          <a:prstGeom prst="rect">
            <a:avLst/>
          </a:prstGeom>
          <a:noFill/>
          <a:ln/>
        </p:spPr>
        <p:txBody>
          <a:bodyPr wrap="square" lIns="0" tIns="0" rIns="0" bIns="0" rtlCol="0" anchor="ctr"/>
          <a:lstStyle/>
          <a:p>
            <a:pPr algn="ctr" indent="0" marL="0">
              <a:buNone/>
            </a:pPr>
            <a:r>
              <a:rPr lang="ko-KR" altLang="en-US" sz="600" dirty="0">
                <a:solidFill>
                  <a:schemeClr val="tx1"/>
                </a:solidFill>
              </a:rPr>
              <a:t>14°</a:t>
            </a:r>
            <a:endParaRPr lang="ko-KR" sz="600" dirty="0"/>
          </a:p>
        </p:txBody>
      </p:sp>
      <p:sp>
        <p:nvSpPr>
          <p:cNvPr id="50" name="daily card"/>
          <p:cNvSpPr/>
          <p:nvPr/>
        </p:nvSpPr>
        <p:spPr>
          <a:xfrm>
            <a:off x="5943600" y="3776472"/>
            <a:ext cx="1737360" cy="594360"/>
          </a:xfrm>
          <a:prstGeom prst="roundRect">
            <a:avLst>
              <a:gd name="adj" fmla="val 15385"/>
            </a:avLst>
          </a:prstGeom>
          <a:solidFill>
            <a:schemeClr val="bg1"/>
          </a:solidFill>
          <a:ln/>
        </p:spPr>
      </p:sp>
      <p:sp>
        <p:nvSpPr>
          <p:cNvPr id="51" name="daily title"/>
          <p:cNvSpPr txBox="1"/>
          <p:nvPr/>
        </p:nvSpPr>
        <p:spPr>
          <a:xfrm>
            <a:off x="6035040" y="3813048"/>
            <a:ext cx="1097280" cy="146304"/>
          </a:xfrm>
          <a:prstGeom prst="rect">
            <a:avLst/>
          </a:prstGeom>
          <a:noFill/>
          <a:ln/>
        </p:spPr>
        <p:txBody>
          <a:bodyPr wrap="square" lIns="0" tIns="0" rIns="0" bIns="0" rtlCol="0" anchor="ctr"/>
          <a:lstStyle/>
          <a:p>
            <a:pPr indent="0" marL="0">
              <a:buNone/>
            </a:pPr>
            <a:r>
              <a:rPr lang="ko-KR" altLang="en-US" sz="600" b="1" dirty="0">
                <a:solidFill>
                  <a:schemeClr val="tx1"/>
                </a:solidFill>
              </a:rPr>
              <a:t>7일 예보</a:t>
            </a:r>
            <a:endParaRPr lang="ko-KR" sz="600" dirty="0"/>
          </a:p>
        </p:txBody>
      </p:sp>
      <p:sp>
        <p:nvSpPr>
          <p:cNvPr id="52" name="day date 1"/>
          <p:cNvSpPr txBox="1"/>
          <p:nvPr/>
        </p:nvSpPr>
        <p:spPr>
          <a:xfrm>
            <a:off x="6035040" y="3977640"/>
            <a:ext cx="640080" cy="164592"/>
          </a:xfrm>
          <a:prstGeom prst="rect">
            <a:avLst/>
          </a:prstGeom>
          <a:noFill/>
          <a:ln/>
        </p:spPr>
        <p:txBody>
          <a:bodyPr wrap="square" lIns="0" tIns="0" rIns="0" bIns="0" rtlCol="0" anchor="ctr"/>
          <a:lstStyle/>
          <a:p>
            <a:pPr indent="0" marL="0">
              <a:buNone/>
            </a:pPr>
            <a:r>
              <a:rPr lang="ko-KR" altLang="en-US" sz="600" dirty="0">
                <a:solidFill>
                  <a:schemeClr val="tx1"/>
                </a:solidFill>
              </a:rPr>
              <a:t>10/29 목</a:t>
            </a:r>
            <a:endParaRPr lang="ko-KR" sz="600" dirty="0"/>
          </a:p>
        </p:txBody>
      </p:sp>
      <p:pic>
        <p:nvPicPr>
          <p:cNvPr id="53" name="day icon 1" descr="날씨 아이콘">    </p:cNvPr>
          <p:cNvPicPr>
            <a:picLocks noChangeAspect="1"/>
          </p:cNvPicPr>
          <p:nvPr/>
        </p:nvPicPr>
        <p:blipFill>
          <a:blip r:embed="rId12"/>
          <a:stretch>
            <a:fillRect/>
          </a:stretch>
        </p:blipFill>
        <p:spPr>
          <a:xfrm>
            <a:off x="6720840" y="3986784"/>
            <a:ext cx="146304" cy="146304"/>
          </a:xfrm>
          <a:prstGeom prst="rect">
            <a:avLst/>
          </a:prstGeom>
        </p:spPr>
      </p:pic>
      <p:sp>
        <p:nvSpPr>
          <p:cNvPr id="54" name="day temp 1"/>
          <p:cNvSpPr txBox="1"/>
          <p:nvPr/>
        </p:nvSpPr>
        <p:spPr>
          <a:xfrm>
            <a:off x="6903720" y="3977640"/>
            <a:ext cx="685800" cy="164592"/>
          </a:xfrm>
          <a:prstGeom prst="rect">
            <a:avLst/>
          </a:prstGeom>
          <a:noFill/>
          <a:ln/>
        </p:spPr>
        <p:txBody>
          <a:bodyPr wrap="square" lIns="0" tIns="0" rIns="0" bIns="0" rtlCol="0" anchor="ctr"/>
          <a:lstStyle/>
          <a:p>
            <a:pPr algn="r" indent="0" marL="0">
              <a:buNone/>
            </a:pPr>
            <a:r>
              <a:rPr lang="ko-KR" altLang="en-US" sz="600" dirty="0">
                <a:solidFill>
                  <a:schemeClr val="tx1"/>
                </a:solidFill>
              </a:rPr>
              <a:t>11° / 18°</a:t>
            </a:r>
            <a:endParaRPr lang="ko-KR" sz="600" dirty="0"/>
          </a:p>
        </p:txBody>
      </p:sp>
      <p:sp>
        <p:nvSpPr>
          <p:cNvPr id="55" name="day date 2"/>
          <p:cNvSpPr txBox="1"/>
          <p:nvPr/>
        </p:nvSpPr>
        <p:spPr>
          <a:xfrm>
            <a:off x="6035040" y="4160520"/>
            <a:ext cx="640080" cy="164592"/>
          </a:xfrm>
          <a:prstGeom prst="rect">
            <a:avLst/>
          </a:prstGeom>
          <a:noFill/>
          <a:ln/>
        </p:spPr>
        <p:txBody>
          <a:bodyPr wrap="square" lIns="0" tIns="0" rIns="0" bIns="0" rtlCol="0" anchor="ctr"/>
          <a:lstStyle/>
          <a:p>
            <a:pPr indent="0" marL="0">
              <a:buNone/>
            </a:pPr>
            <a:r>
              <a:rPr lang="ko-KR" altLang="en-US" sz="600" dirty="0">
                <a:solidFill>
                  <a:schemeClr val="tx1"/>
                </a:solidFill>
              </a:rPr>
              <a:t>10/30 금</a:t>
            </a:r>
            <a:endParaRPr lang="ko-KR" sz="600" dirty="0"/>
          </a:p>
        </p:txBody>
      </p:sp>
      <p:pic>
        <p:nvPicPr>
          <p:cNvPr id="56" name="day icon 2" descr="날씨 아이콘">    </p:cNvPr>
          <p:cNvPicPr>
            <a:picLocks noChangeAspect="1"/>
          </p:cNvPicPr>
          <p:nvPr/>
        </p:nvPicPr>
        <p:blipFill>
          <a:blip r:embed="rId13"/>
          <a:stretch>
            <a:fillRect/>
          </a:stretch>
        </p:blipFill>
        <p:spPr>
          <a:xfrm>
            <a:off x="6720840" y="4169664"/>
            <a:ext cx="146304" cy="146304"/>
          </a:xfrm>
          <a:prstGeom prst="rect">
            <a:avLst/>
          </a:prstGeom>
        </p:spPr>
      </p:pic>
      <p:sp>
        <p:nvSpPr>
          <p:cNvPr id="57" name="day temp 2"/>
          <p:cNvSpPr txBox="1"/>
          <p:nvPr/>
        </p:nvSpPr>
        <p:spPr>
          <a:xfrm>
            <a:off x="6903720" y="4160520"/>
            <a:ext cx="685800" cy="164592"/>
          </a:xfrm>
          <a:prstGeom prst="rect">
            <a:avLst/>
          </a:prstGeom>
          <a:noFill/>
          <a:ln/>
        </p:spPr>
        <p:txBody>
          <a:bodyPr wrap="square" lIns="0" tIns="0" rIns="0" bIns="0" rtlCol="0" anchor="ctr"/>
          <a:lstStyle/>
          <a:p>
            <a:pPr algn="r" indent="0" marL="0">
              <a:buNone/>
            </a:pPr>
            <a:r>
              <a:rPr lang="ko-KR" altLang="en-US" sz="600" dirty="0">
                <a:solidFill>
                  <a:schemeClr val="tx1"/>
                </a:solidFill>
              </a:rPr>
              <a:t>9° / 15°</a:t>
            </a:r>
            <a:endParaRPr lang="ko-KR"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어떤 앱인가요?</a:t>
            </a:r>
            <a:endParaRPr lang="en-US" sz="3400" dirty="0"/>
          </a:p>
        </p:txBody>
      </p:sp>
      <p:sp>
        <p:nvSpPr>
          <p:cNvPr id="3" name="phone frame"/>
          <p:cNvSpPr/>
          <p:nvPr/>
        </p:nvSpPr>
        <p:spPr>
          <a:xfrm>
            <a:off x="685800" y="1097280"/>
            <a:ext cx="1828800" cy="3566160"/>
          </a:xfrm>
          <a:prstGeom prst="roundRect">
            <a:avLst>
              <a:gd name="adj" fmla="val 13043"/>
            </a:avLst>
          </a:prstGeom>
          <a:solidFill>
            <a:schemeClr val="tx1"/>
          </a:solidFill>
          <a:ln/>
        </p:spPr>
      </p:sp>
      <p:sp>
        <p:nvSpPr>
          <p:cNvPr id="4" name="phone screen"/>
          <p:cNvSpPr/>
          <p:nvPr/>
        </p:nvSpPr>
        <p:spPr>
          <a:xfrm>
            <a:off x="765313" y="1256306"/>
            <a:ext cx="1669774" cy="3248108"/>
          </a:xfrm>
          <a:prstGeom prst="roundRect">
            <a:avLst>
              <a:gd name="adj" fmla="val 10476"/>
            </a:avLst>
          </a:prstGeom>
          <a:solidFill>
            <a:schemeClr val="bg2"/>
          </a:solidFill>
          <a:ln/>
        </p:spPr>
      </p:sp>
      <p:sp>
        <p:nvSpPr>
          <p:cNvPr id="5" name="app bar"/>
          <p:cNvSpPr txBox="1"/>
          <p:nvPr/>
        </p:nvSpPr>
        <p:spPr>
          <a:xfrm>
            <a:off x="844826" y="1304014"/>
            <a:ext cx="1510748" cy="174929"/>
          </a:xfrm>
          <a:prstGeom prst="rect">
            <a:avLst/>
          </a:prstGeom>
          <a:noFill/>
          <a:ln/>
        </p:spPr>
        <p:txBody>
          <a:bodyPr wrap="square" lIns="0" tIns="0" rIns="0" bIns="0" rtlCol="0" anchor="ctr"/>
          <a:lstStyle/>
          <a:p>
            <a:pPr indent="0" marL="0">
              <a:buNone/>
            </a:pPr>
            <a:r>
              <a:rPr lang="ko-KR" altLang="en-US" sz="696" b="1" dirty="0">
                <a:solidFill>
                  <a:schemeClr val="tx1"/>
                </a:solidFill>
              </a:rPr>
              <a:t>WeatherApp</a:t>
            </a:r>
            <a:endParaRPr lang="ko-KR" sz="696" dirty="0"/>
          </a:p>
        </p:txBody>
      </p:sp>
      <p:sp>
        <p:nvSpPr>
          <p:cNvPr id="6" name="search bar"/>
          <p:cNvSpPr/>
          <p:nvPr/>
        </p:nvSpPr>
        <p:spPr>
          <a:xfrm>
            <a:off x="844826" y="1510748"/>
            <a:ext cx="1510748" cy="222637"/>
          </a:xfrm>
          <a:prstGeom prst="roundRect">
            <a:avLst>
              <a:gd name="adj" fmla="val 50000"/>
            </a:avLst>
          </a:prstGeom>
          <a:solidFill>
            <a:schemeClr val="bg1"/>
          </a:solidFill>
          <a:ln w="6350">
            <a:solidFill>
              <a:srgbClr val="8A9AB0"/>
            </a:solidFill>
            <a:prstDash val="solid"/>
          </a:ln>
        </p:spPr>
      </p:sp>
      <p:pic>
        <p:nvPicPr>
          <p:cNvPr id="7" name="search icon" descr="검색">    </p:cNvPr>
          <p:cNvPicPr>
            <a:picLocks noChangeAspect="1"/>
          </p:cNvPicPr>
          <p:nvPr/>
        </p:nvPicPr>
        <p:blipFill>
          <a:blip r:embed="rId1"/>
          <a:stretch>
            <a:fillRect/>
          </a:stretch>
        </p:blipFill>
        <p:spPr>
          <a:xfrm>
            <a:off x="908437" y="1550504"/>
            <a:ext cx="143123" cy="143123"/>
          </a:xfrm>
          <a:prstGeom prst="rect">
            <a:avLst/>
          </a:prstGeom>
        </p:spPr>
      </p:pic>
      <p:sp>
        <p:nvSpPr>
          <p:cNvPr id="8" name="search text"/>
          <p:cNvSpPr txBox="1"/>
          <p:nvPr/>
        </p:nvSpPr>
        <p:spPr>
          <a:xfrm>
            <a:off x="1099268" y="1510748"/>
            <a:ext cx="1192696" cy="222637"/>
          </a:xfrm>
          <a:prstGeom prst="rect">
            <a:avLst/>
          </a:prstGeom>
          <a:noFill/>
          <a:ln/>
        </p:spPr>
        <p:txBody>
          <a:bodyPr wrap="square" lIns="0" tIns="0" rIns="0" bIns="0" rtlCol="0" anchor="ctr"/>
          <a:lstStyle/>
          <a:p>
            <a:pPr indent="0" marL="0">
              <a:buNone/>
            </a:pPr>
            <a:r>
              <a:rPr lang="ko-KR" altLang="en-US" sz="652" dirty="0">
                <a:solidFill>
                  <a:schemeClr val="tx1"/>
                </a:solidFill>
              </a:rPr>
              <a:t>서울</a:t>
            </a:r>
            <a:endParaRPr lang="ko-KR" sz="652" dirty="0"/>
          </a:p>
        </p:txBody>
      </p:sp>
      <p:sp>
        <p:nvSpPr>
          <p:cNvPr id="9" name="current card"/>
          <p:cNvSpPr/>
          <p:nvPr/>
        </p:nvSpPr>
        <p:spPr>
          <a:xfrm>
            <a:off x="844826" y="1812897"/>
            <a:ext cx="1510748" cy="914400"/>
          </a:xfrm>
          <a:prstGeom prst="roundRect">
            <a:avLst>
              <a:gd name="adj" fmla="val 13913"/>
            </a:avLst>
          </a:prstGeom>
          <a:solidFill>
            <a:schemeClr val="accent1">
              <a:alpha val="25000"/>
            </a:schemeClr>
          </a:solidFill>
          <a:ln/>
        </p:spPr>
      </p:sp>
      <p:sp>
        <p:nvSpPr>
          <p:cNvPr id="10" name="card place"/>
          <p:cNvSpPr txBox="1"/>
          <p:nvPr/>
        </p:nvSpPr>
        <p:spPr>
          <a:xfrm>
            <a:off x="940242" y="1876508"/>
            <a:ext cx="1033670" cy="159026"/>
          </a:xfrm>
          <a:prstGeom prst="rect">
            <a:avLst/>
          </a:prstGeom>
          <a:noFill/>
          <a:ln/>
        </p:spPr>
        <p:txBody>
          <a:bodyPr wrap="square" lIns="0" tIns="0" rIns="0" bIns="0" rtlCol="0" anchor="ctr"/>
          <a:lstStyle/>
          <a:p>
            <a:pPr indent="0" marL="0">
              <a:buNone/>
            </a:pPr>
            <a:r>
              <a:rPr lang="ko-KR" altLang="en-US" sz="609" b="1" dirty="0">
                <a:solidFill>
                  <a:schemeClr val="tx1"/>
                </a:solidFill>
              </a:rPr>
              <a:t>서울, 대한민국</a:t>
            </a:r>
            <a:endParaRPr lang="ko-KR" sz="609" dirty="0"/>
          </a:p>
        </p:txBody>
      </p:sp>
      <p:sp>
        <p:nvSpPr>
          <p:cNvPr id="11" name="card temp"/>
          <p:cNvSpPr txBox="1"/>
          <p:nvPr/>
        </p:nvSpPr>
        <p:spPr>
          <a:xfrm>
            <a:off x="924339" y="2051437"/>
            <a:ext cx="795130" cy="437322"/>
          </a:xfrm>
          <a:prstGeom prst="rect">
            <a:avLst/>
          </a:prstGeom>
          <a:noFill/>
          <a:ln/>
        </p:spPr>
        <p:txBody>
          <a:bodyPr wrap="square" lIns="0" tIns="0" rIns="0" bIns="0" rtlCol="0" anchor="ctr"/>
          <a:lstStyle/>
          <a:p>
            <a:pPr indent="0" marL="0">
              <a:buNone/>
            </a:pPr>
            <a:r>
              <a:rPr lang="ko-KR" altLang="en-US" sz="2609" dirty="0">
                <a:solidFill>
                  <a:schemeClr val="tx1"/>
                </a:solidFill>
              </a:rPr>
              <a:t>18°</a:t>
            </a:r>
            <a:endParaRPr lang="ko-KR" sz="2609" dirty="0"/>
          </a:p>
        </p:txBody>
      </p:sp>
      <p:sp>
        <p:nvSpPr>
          <p:cNvPr id="12" name="card feels"/>
          <p:cNvSpPr txBox="1"/>
          <p:nvPr/>
        </p:nvSpPr>
        <p:spPr>
          <a:xfrm>
            <a:off x="940242" y="2512612"/>
            <a:ext cx="795130" cy="143123"/>
          </a:xfrm>
          <a:prstGeom prst="rect">
            <a:avLst/>
          </a:prstGeom>
          <a:noFill/>
          <a:ln/>
        </p:spPr>
        <p:txBody>
          <a:bodyPr wrap="square" lIns="0" tIns="0" rIns="0" bIns="0" rtlCol="0" anchor="ctr"/>
          <a:lstStyle/>
          <a:p>
            <a:pPr indent="0" marL="0">
              <a:buNone/>
            </a:pPr>
            <a:r>
              <a:rPr lang="ko-KR" altLang="en-US" sz="565" dirty="0">
                <a:solidFill>
                  <a:schemeClr val="tx2"/>
                </a:solidFill>
              </a:rPr>
              <a:t>체감 17°</a:t>
            </a:r>
            <a:endParaRPr lang="ko-KR" sz="565" dirty="0"/>
          </a:p>
        </p:txBody>
      </p:sp>
      <p:pic>
        <p:nvPicPr>
          <p:cNvPr id="13" name="card sun" descr="맑음 아이콘">    </p:cNvPr>
          <p:cNvPicPr>
            <a:picLocks noChangeAspect="1"/>
          </p:cNvPicPr>
          <p:nvPr/>
        </p:nvPicPr>
        <p:blipFill>
          <a:blip r:embed="rId2"/>
          <a:stretch>
            <a:fillRect/>
          </a:stretch>
        </p:blipFill>
        <p:spPr>
          <a:xfrm>
            <a:off x="1814885" y="1987826"/>
            <a:ext cx="397565" cy="397565"/>
          </a:xfrm>
          <a:prstGeom prst="rect">
            <a:avLst/>
          </a:prstGeom>
        </p:spPr>
      </p:pic>
      <p:sp>
        <p:nvSpPr>
          <p:cNvPr id="14" name="card label"/>
          <p:cNvSpPr txBox="1"/>
          <p:nvPr/>
        </p:nvSpPr>
        <p:spPr>
          <a:xfrm>
            <a:off x="1735372" y="2417197"/>
            <a:ext cx="556591" cy="159026"/>
          </a:xfrm>
          <a:prstGeom prst="rect">
            <a:avLst/>
          </a:prstGeom>
          <a:noFill/>
          <a:ln/>
        </p:spPr>
        <p:txBody>
          <a:bodyPr wrap="square" lIns="0" tIns="0" rIns="0" bIns="0" rtlCol="0" anchor="ctr"/>
          <a:lstStyle/>
          <a:p>
            <a:pPr algn="ctr" indent="0" marL="0">
              <a:buNone/>
            </a:pPr>
            <a:r>
              <a:rPr lang="ko-KR" altLang="en-US" sz="652" b="1" dirty="0">
                <a:solidFill>
                  <a:schemeClr val="tx1"/>
                </a:solidFill>
              </a:rPr>
              <a:t>맑음</a:t>
            </a:r>
            <a:endParaRPr lang="ko-KR" sz="652" dirty="0"/>
          </a:p>
        </p:txBody>
      </p:sp>
      <p:sp>
        <p:nvSpPr>
          <p:cNvPr id="15" name="metric tile 1"/>
          <p:cNvSpPr/>
          <p:nvPr/>
        </p:nvSpPr>
        <p:spPr>
          <a:xfrm>
            <a:off x="844826" y="2806810"/>
            <a:ext cx="347870" cy="381663"/>
          </a:xfrm>
          <a:prstGeom prst="roundRect">
            <a:avLst>
              <a:gd name="adj" fmla="val 18286"/>
            </a:avLst>
          </a:prstGeom>
          <a:solidFill>
            <a:schemeClr val="bg1"/>
          </a:solidFill>
          <a:ln/>
        </p:spPr>
      </p:sp>
      <p:pic>
        <p:nvPicPr>
          <p:cNvPr id="16" name="metric icon 1" descr="지표 아이콘">    </p:cNvPr>
          <p:cNvPicPr>
            <a:picLocks noChangeAspect="1"/>
          </p:cNvPicPr>
          <p:nvPr/>
        </p:nvPicPr>
        <p:blipFill>
          <a:blip r:embed="rId3"/>
          <a:stretch>
            <a:fillRect/>
          </a:stretch>
        </p:blipFill>
        <p:spPr>
          <a:xfrm>
            <a:off x="947199" y="2846567"/>
            <a:ext cx="143123" cy="143123"/>
          </a:xfrm>
          <a:prstGeom prst="rect">
            <a:avLst/>
          </a:prstGeom>
        </p:spPr>
      </p:pic>
      <p:sp>
        <p:nvSpPr>
          <p:cNvPr id="17" name="metric value 1"/>
          <p:cNvSpPr txBox="1"/>
          <p:nvPr/>
        </p:nvSpPr>
        <p:spPr>
          <a:xfrm>
            <a:off x="844826" y="3005593"/>
            <a:ext cx="347870" cy="143123"/>
          </a:xfrm>
          <a:prstGeom prst="rect">
            <a:avLst/>
          </a:prstGeom>
          <a:noFill/>
          <a:ln/>
        </p:spPr>
        <p:txBody>
          <a:bodyPr wrap="square" lIns="0" tIns="0" rIns="0" bIns="0" rtlCol="0" anchor="ctr"/>
          <a:lstStyle/>
          <a:p>
            <a:pPr algn="ctr" indent="0" marL="0">
              <a:buNone/>
            </a:pPr>
            <a:r>
              <a:rPr lang="ko-KR" altLang="en-US" sz="565" dirty="0">
                <a:solidFill>
                  <a:schemeClr val="tx1"/>
                </a:solidFill>
              </a:rPr>
              <a:t>17°</a:t>
            </a:r>
            <a:endParaRPr lang="ko-KR" sz="565" dirty="0"/>
          </a:p>
        </p:txBody>
      </p:sp>
      <p:sp>
        <p:nvSpPr>
          <p:cNvPr id="18" name="metric tile 2"/>
          <p:cNvSpPr/>
          <p:nvPr/>
        </p:nvSpPr>
        <p:spPr>
          <a:xfrm>
            <a:off x="1232452" y="2806810"/>
            <a:ext cx="347870" cy="381663"/>
          </a:xfrm>
          <a:prstGeom prst="roundRect">
            <a:avLst>
              <a:gd name="adj" fmla="val 18286"/>
            </a:avLst>
          </a:prstGeom>
          <a:solidFill>
            <a:schemeClr val="bg1"/>
          </a:solidFill>
          <a:ln/>
        </p:spPr>
      </p:sp>
      <p:pic>
        <p:nvPicPr>
          <p:cNvPr id="19" name="metric icon 2" descr="지표 아이콘">    </p:cNvPr>
          <p:cNvPicPr>
            <a:picLocks noChangeAspect="1"/>
          </p:cNvPicPr>
          <p:nvPr/>
        </p:nvPicPr>
        <p:blipFill>
          <a:blip r:embed="rId4"/>
          <a:stretch>
            <a:fillRect/>
          </a:stretch>
        </p:blipFill>
        <p:spPr>
          <a:xfrm>
            <a:off x="1334825" y="2846567"/>
            <a:ext cx="143123" cy="143123"/>
          </a:xfrm>
          <a:prstGeom prst="rect">
            <a:avLst/>
          </a:prstGeom>
        </p:spPr>
      </p:pic>
      <p:sp>
        <p:nvSpPr>
          <p:cNvPr id="20" name="metric value 2"/>
          <p:cNvSpPr txBox="1"/>
          <p:nvPr/>
        </p:nvSpPr>
        <p:spPr>
          <a:xfrm>
            <a:off x="1232452" y="3005593"/>
            <a:ext cx="347870" cy="143123"/>
          </a:xfrm>
          <a:prstGeom prst="rect">
            <a:avLst/>
          </a:prstGeom>
          <a:noFill/>
          <a:ln/>
        </p:spPr>
        <p:txBody>
          <a:bodyPr wrap="square" lIns="0" tIns="0" rIns="0" bIns="0" rtlCol="0" anchor="ctr"/>
          <a:lstStyle/>
          <a:p>
            <a:pPr algn="ctr" indent="0" marL="0">
              <a:buNone/>
            </a:pPr>
            <a:r>
              <a:rPr lang="ko-KR" altLang="en-US" sz="565" dirty="0">
                <a:solidFill>
                  <a:schemeClr val="tx1"/>
                </a:solidFill>
              </a:rPr>
              <a:t>45%</a:t>
            </a:r>
            <a:endParaRPr lang="ko-KR" sz="565" dirty="0"/>
          </a:p>
        </p:txBody>
      </p:sp>
      <p:sp>
        <p:nvSpPr>
          <p:cNvPr id="21" name="metric tile 3"/>
          <p:cNvSpPr/>
          <p:nvPr/>
        </p:nvSpPr>
        <p:spPr>
          <a:xfrm>
            <a:off x="1620078" y="2806810"/>
            <a:ext cx="347870" cy="381663"/>
          </a:xfrm>
          <a:prstGeom prst="roundRect">
            <a:avLst>
              <a:gd name="adj" fmla="val 18286"/>
            </a:avLst>
          </a:prstGeom>
          <a:solidFill>
            <a:schemeClr val="bg1"/>
          </a:solidFill>
          <a:ln/>
        </p:spPr>
      </p:sp>
      <p:pic>
        <p:nvPicPr>
          <p:cNvPr id="22" name="metric icon 3" descr="지표 아이콘">    </p:cNvPr>
          <p:cNvPicPr>
            <a:picLocks noChangeAspect="1"/>
          </p:cNvPicPr>
          <p:nvPr/>
        </p:nvPicPr>
        <p:blipFill>
          <a:blip r:embed="rId5"/>
          <a:stretch>
            <a:fillRect/>
          </a:stretch>
        </p:blipFill>
        <p:spPr>
          <a:xfrm>
            <a:off x="1722451" y="2846567"/>
            <a:ext cx="143123" cy="143123"/>
          </a:xfrm>
          <a:prstGeom prst="rect">
            <a:avLst/>
          </a:prstGeom>
        </p:spPr>
      </p:pic>
      <p:sp>
        <p:nvSpPr>
          <p:cNvPr id="23" name="metric value 3"/>
          <p:cNvSpPr txBox="1"/>
          <p:nvPr/>
        </p:nvSpPr>
        <p:spPr>
          <a:xfrm>
            <a:off x="1620078" y="3005593"/>
            <a:ext cx="347870" cy="143123"/>
          </a:xfrm>
          <a:prstGeom prst="rect">
            <a:avLst/>
          </a:prstGeom>
          <a:noFill/>
          <a:ln/>
        </p:spPr>
        <p:txBody>
          <a:bodyPr wrap="square" lIns="0" tIns="0" rIns="0" bIns="0" rtlCol="0" anchor="ctr"/>
          <a:lstStyle/>
          <a:p>
            <a:pPr algn="ctr" indent="0" marL="0">
              <a:buNone/>
            </a:pPr>
            <a:r>
              <a:rPr lang="ko-KR" altLang="en-US" sz="565" dirty="0">
                <a:solidFill>
                  <a:schemeClr val="tx1"/>
                </a:solidFill>
              </a:rPr>
              <a:t>2m/s</a:t>
            </a:r>
            <a:endParaRPr lang="ko-KR" sz="565" dirty="0"/>
          </a:p>
        </p:txBody>
      </p:sp>
      <p:sp>
        <p:nvSpPr>
          <p:cNvPr id="24" name="metric tile 4"/>
          <p:cNvSpPr/>
          <p:nvPr/>
        </p:nvSpPr>
        <p:spPr>
          <a:xfrm>
            <a:off x="2007704" y="2806810"/>
            <a:ext cx="347870" cy="381663"/>
          </a:xfrm>
          <a:prstGeom prst="roundRect">
            <a:avLst>
              <a:gd name="adj" fmla="val 18286"/>
            </a:avLst>
          </a:prstGeom>
          <a:solidFill>
            <a:schemeClr val="bg1"/>
          </a:solidFill>
          <a:ln/>
        </p:spPr>
      </p:sp>
      <p:pic>
        <p:nvPicPr>
          <p:cNvPr id="25" name="metric icon 4" descr="지표 아이콘">    </p:cNvPr>
          <p:cNvPicPr>
            <a:picLocks noChangeAspect="1"/>
          </p:cNvPicPr>
          <p:nvPr/>
        </p:nvPicPr>
        <p:blipFill>
          <a:blip r:embed="rId6"/>
          <a:stretch>
            <a:fillRect/>
          </a:stretch>
        </p:blipFill>
        <p:spPr>
          <a:xfrm>
            <a:off x="2110077" y="2846567"/>
            <a:ext cx="143123" cy="143123"/>
          </a:xfrm>
          <a:prstGeom prst="rect">
            <a:avLst/>
          </a:prstGeom>
        </p:spPr>
      </p:pic>
      <p:sp>
        <p:nvSpPr>
          <p:cNvPr id="26" name="metric value 4"/>
          <p:cNvSpPr txBox="1"/>
          <p:nvPr/>
        </p:nvSpPr>
        <p:spPr>
          <a:xfrm>
            <a:off x="2007704" y="3005593"/>
            <a:ext cx="347870" cy="143123"/>
          </a:xfrm>
          <a:prstGeom prst="rect">
            <a:avLst/>
          </a:prstGeom>
          <a:noFill/>
          <a:ln/>
        </p:spPr>
        <p:txBody>
          <a:bodyPr wrap="square" lIns="0" tIns="0" rIns="0" bIns="0" rtlCol="0" anchor="ctr"/>
          <a:lstStyle/>
          <a:p>
            <a:pPr algn="ctr" indent="0" marL="0">
              <a:buNone/>
            </a:pPr>
            <a:r>
              <a:rPr lang="ko-KR" altLang="en-US" sz="565" dirty="0">
                <a:solidFill>
                  <a:schemeClr val="tx1"/>
                </a:solidFill>
              </a:rPr>
              <a:t>0mm</a:t>
            </a:r>
            <a:endParaRPr lang="ko-KR" sz="565" dirty="0"/>
          </a:p>
        </p:txBody>
      </p:sp>
      <p:sp>
        <p:nvSpPr>
          <p:cNvPr id="27" name="hourly card"/>
          <p:cNvSpPr/>
          <p:nvPr/>
        </p:nvSpPr>
        <p:spPr>
          <a:xfrm>
            <a:off x="844826" y="3267986"/>
            <a:ext cx="1510748" cy="556591"/>
          </a:xfrm>
          <a:prstGeom prst="roundRect">
            <a:avLst>
              <a:gd name="adj" fmla="val 14286"/>
            </a:avLst>
          </a:prstGeom>
          <a:solidFill>
            <a:schemeClr val="bg1"/>
          </a:solidFill>
          <a:ln/>
        </p:spPr>
      </p:sp>
      <p:sp>
        <p:nvSpPr>
          <p:cNvPr id="28" name="hourly title"/>
          <p:cNvSpPr txBox="1"/>
          <p:nvPr/>
        </p:nvSpPr>
        <p:spPr>
          <a:xfrm>
            <a:off x="924339" y="3299791"/>
            <a:ext cx="954157" cy="127221"/>
          </a:xfrm>
          <a:prstGeom prst="rect">
            <a:avLst/>
          </a:prstGeom>
          <a:noFill/>
          <a:ln/>
        </p:spPr>
        <p:txBody>
          <a:bodyPr wrap="square" lIns="0" tIns="0" rIns="0" bIns="0" rtlCol="0" anchor="ctr"/>
          <a:lstStyle/>
          <a:p>
            <a:pPr indent="0" marL="0">
              <a:buNone/>
            </a:pPr>
            <a:r>
              <a:rPr lang="ko-KR" altLang="en-US" sz="522" b="1" dirty="0">
                <a:solidFill>
                  <a:schemeClr val="tx1"/>
                </a:solidFill>
              </a:rPr>
              <a:t>시간별 예보</a:t>
            </a:r>
            <a:endParaRPr lang="ko-KR" sz="522" dirty="0"/>
          </a:p>
        </p:txBody>
      </p:sp>
      <p:sp>
        <p:nvSpPr>
          <p:cNvPr id="29" name="hour time 1"/>
          <p:cNvSpPr txBox="1"/>
          <p:nvPr/>
        </p:nvSpPr>
        <p:spPr>
          <a:xfrm>
            <a:off x="844826" y="3427012"/>
            <a:ext cx="302150" cy="111318"/>
          </a:xfrm>
          <a:prstGeom prst="rect">
            <a:avLst/>
          </a:prstGeom>
          <a:noFill/>
          <a:ln/>
        </p:spPr>
        <p:txBody>
          <a:bodyPr wrap="square" lIns="0" tIns="0" rIns="0" bIns="0" rtlCol="0" anchor="ctr"/>
          <a:lstStyle/>
          <a:p>
            <a:pPr algn="ctr" indent="0" marL="0">
              <a:buNone/>
            </a:pPr>
            <a:r>
              <a:rPr lang="ko-KR" altLang="en-US" sz="478" dirty="0">
                <a:solidFill>
                  <a:schemeClr val="tx2"/>
                </a:solidFill>
              </a:rPr>
              <a:t>15시</a:t>
            </a:r>
            <a:endParaRPr lang="ko-KR" sz="478" dirty="0"/>
          </a:p>
        </p:txBody>
      </p:sp>
      <p:pic>
        <p:nvPicPr>
          <p:cNvPr id="30" name="hour icon 1" descr="날씨 아이콘">    </p:cNvPr>
          <p:cNvPicPr>
            <a:picLocks noChangeAspect="1"/>
          </p:cNvPicPr>
          <p:nvPr/>
        </p:nvPicPr>
        <p:blipFill>
          <a:blip r:embed="rId7"/>
          <a:stretch>
            <a:fillRect/>
          </a:stretch>
        </p:blipFill>
        <p:spPr>
          <a:xfrm>
            <a:off x="932290" y="3546282"/>
            <a:ext cx="127221" cy="127221"/>
          </a:xfrm>
          <a:prstGeom prst="rect">
            <a:avLst/>
          </a:prstGeom>
        </p:spPr>
      </p:pic>
      <p:sp>
        <p:nvSpPr>
          <p:cNvPr id="31" name="hour temp 1"/>
          <p:cNvSpPr txBox="1"/>
          <p:nvPr/>
        </p:nvSpPr>
        <p:spPr>
          <a:xfrm>
            <a:off x="844826" y="3681454"/>
            <a:ext cx="302150" cy="111318"/>
          </a:xfrm>
          <a:prstGeom prst="rect">
            <a:avLst/>
          </a:prstGeom>
          <a:noFill/>
          <a:ln/>
        </p:spPr>
        <p:txBody>
          <a:bodyPr wrap="square" lIns="0" tIns="0" rIns="0" bIns="0" rtlCol="0" anchor="ctr"/>
          <a:lstStyle/>
          <a:p>
            <a:pPr algn="ctr" indent="0" marL="0">
              <a:buNone/>
            </a:pPr>
            <a:r>
              <a:rPr lang="ko-KR" altLang="en-US" sz="522" dirty="0">
                <a:solidFill>
                  <a:schemeClr val="tx1"/>
                </a:solidFill>
              </a:rPr>
              <a:t>18°</a:t>
            </a:r>
            <a:endParaRPr lang="ko-KR" sz="522" dirty="0"/>
          </a:p>
        </p:txBody>
      </p:sp>
      <p:sp>
        <p:nvSpPr>
          <p:cNvPr id="32" name="hour time 2"/>
          <p:cNvSpPr txBox="1"/>
          <p:nvPr/>
        </p:nvSpPr>
        <p:spPr>
          <a:xfrm>
            <a:off x="1146976" y="3427012"/>
            <a:ext cx="302150" cy="111318"/>
          </a:xfrm>
          <a:prstGeom prst="rect">
            <a:avLst/>
          </a:prstGeom>
          <a:noFill/>
          <a:ln/>
        </p:spPr>
        <p:txBody>
          <a:bodyPr wrap="square" lIns="0" tIns="0" rIns="0" bIns="0" rtlCol="0" anchor="ctr"/>
          <a:lstStyle/>
          <a:p>
            <a:pPr algn="ctr" indent="0" marL="0">
              <a:buNone/>
            </a:pPr>
            <a:r>
              <a:rPr lang="ko-KR" altLang="en-US" sz="478" dirty="0">
                <a:solidFill>
                  <a:schemeClr val="tx2"/>
                </a:solidFill>
              </a:rPr>
              <a:t>16시</a:t>
            </a:r>
            <a:endParaRPr lang="ko-KR" sz="478" dirty="0"/>
          </a:p>
        </p:txBody>
      </p:sp>
      <p:pic>
        <p:nvPicPr>
          <p:cNvPr id="33" name="hour icon 2" descr="날씨 아이콘">    </p:cNvPr>
          <p:cNvPicPr>
            <a:picLocks noChangeAspect="1"/>
          </p:cNvPicPr>
          <p:nvPr/>
        </p:nvPicPr>
        <p:blipFill>
          <a:blip r:embed="rId8"/>
          <a:stretch>
            <a:fillRect/>
          </a:stretch>
        </p:blipFill>
        <p:spPr>
          <a:xfrm>
            <a:off x="1234440" y="3546282"/>
            <a:ext cx="127221" cy="127221"/>
          </a:xfrm>
          <a:prstGeom prst="rect">
            <a:avLst/>
          </a:prstGeom>
        </p:spPr>
      </p:pic>
      <p:sp>
        <p:nvSpPr>
          <p:cNvPr id="34" name="hour temp 2"/>
          <p:cNvSpPr txBox="1"/>
          <p:nvPr/>
        </p:nvSpPr>
        <p:spPr>
          <a:xfrm>
            <a:off x="1146976" y="3681454"/>
            <a:ext cx="302150" cy="111318"/>
          </a:xfrm>
          <a:prstGeom prst="rect">
            <a:avLst/>
          </a:prstGeom>
          <a:noFill/>
          <a:ln/>
        </p:spPr>
        <p:txBody>
          <a:bodyPr wrap="square" lIns="0" tIns="0" rIns="0" bIns="0" rtlCol="0" anchor="ctr"/>
          <a:lstStyle/>
          <a:p>
            <a:pPr algn="ctr" indent="0" marL="0">
              <a:buNone/>
            </a:pPr>
            <a:r>
              <a:rPr lang="ko-KR" altLang="en-US" sz="522" dirty="0">
                <a:solidFill>
                  <a:schemeClr val="tx1"/>
                </a:solidFill>
              </a:rPr>
              <a:t>18°</a:t>
            </a:r>
            <a:endParaRPr lang="ko-KR" sz="522" dirty="0"/>
          </a:p>
        </p:txBody>
      </p:sp>
      <p:sp>
        <p:nvSpPr>
          <p:cNvPr id="35" name="hour time 3"/>
          <p:cNvSpPr txBox="1"/>
          <p:nvPr/>
        </p:nvSpPr>
        <p:spPr>
          <a:xfrm>
            <a:off x="1449125" y="3427012"/>
            <a:ext cx="302150" cy="111318"/>
          </a:xfrm>
          <a:prstGeom prst="rect">
            <a:avLst/>
          </a:prstGeom>
          <a:noFill/>
          <a:ln/>
        </p:spPr>
        <p:txBody>
          <a:bodyPr wrap="square" lIns="0" tIns="0" rIns="0" bIns="0" rtlCol="0" anchor="ctr"/>
          <a:lstStyle/>
          <a:p>
            <a:pPr algn="ctr" indent="0" marL="0">
              <a:buNone/>
            </a:pPr>
            <a:r>
              <a:rPr lang="ko-KR" altLang="en-US" sz="478" dirty="0">
                <a:solidFill>
                  <a:schemeClr val="tx2"/>
                </a:solidFill>
              </a:rPr>
              <a:t>17시</a:t>
            </a:r>
            <a:endParaRPr lang="ko-KR" sz="478" dirty="0"/>
          </a:p>
        </p:txBody>
      </p:sp>
      <p:pic>
        <p:nvPicPr>
          <p:cNvPr id="36" name="hour icon 3" descr="날씨 아이콘">    </p:cNvPr>
          <p:cNvPicPr>
            <a:picLocks noChangeAspect="1"/>
          </p:cNvPicPr>
          <p:nvPr/>
        </p:nvPicPr>
        <p:blipFill>
          <a:blip r:embed="rId9"/>
          <a:stretch>
            <a:fillRect/>
          </a:stretch>
        </p:blipFill>
        <p:spPr>
          <a:xfrm>
            <a:off x="1536590" y="3546282"/>
            <a:ext cx="127221" cy="127221"/>
          </a:xfrm>
          <a:prstGeom prst="rect">
            <a:avLst/>
          </a:prstGeom>
        </p:spPr>
      </p:pic>
      <p:sp>
        <p:nvSpPr>
          <p:cNvPr id="37" name="hour temp 3"/>
          <p:cNvSpPr txBox="1"/>
          <p:nvPr/>
        </p:nvSpPr>
        <p:spPr>
          <a:xfrm>
            <a:off x="1449125" y="3681454"/>
            <a:ext cx="302150" cy="111318"/>
          </a:xfrm>
          <a:prstGeom prst="rect">
            <a:avLst/>
          </a:prstGeom>
          <a:noFill/>
          <a:ln/>
        </p:spPr>
        <p:txBody>
          <a:bodyPr wrap="square" lIns="0" tIns="0" rIns="0" bIns="0" rtlCol="0" anchor="ctr"/>
          <a:lstStyle/>
          <a:p>
            <a:pPr algn="ctr" indent="0" marL="0">
              <a:buNone/>
            </a:pPr>
            <a:r>
              <a:rPr lang="ko-KR" altLang="en-US" sz="522" dirty="0">
                <a:solidFill>
                  <a:schemeClr val="tx1"/>
                </a:solidFill>
              </a:rPr>
              <a:t>17°</a:t>
            </a:r>
            <a:endParaRPr lang="ko-KR" sz="522" dirty="0"/>
          </a:p>
        </p:txBody>
      </p:sp>
      <p:sp>
        <p:nvSpPr>
          <p:cNvPr id="38" name="hour time 4"/>
          <p:cNvSpPr txBox="1"/>
          <p:nvPr/>
        </p:nvSpPr>
        <p:spPr>
          <a:xfrm>
            <a:off x="1751275" y="3427012"/>
            <a:ext cx="302150" cy="111318"/>
          </a:xfrm>
          <a:prstGeom prst="rect">
            <a:avLst/>
          </a:prstGeom>
          <a:noFill/>
          <a:ln/>
        </p:spPr>
        <p:txBody>
          <a:bodyPr wrap="square" lIns="0" tIns="0" rIns="0" bIns="0" rtlCol="0" anchor="ctr"/>
          <a:lstStyle/>
          <a:p>
            <a:pPr algn="ctr" indent="0" marL="0">
              <a:buNone/>
            </a:pPr>
            <a:r>
              <a:rPr lang="ko-KR" altLang="en-US" sz="478" dirty="0">
                <a:solidFill>
                  <a:schemeClr val="tx2"/>
                </a:solidFill>
              </a:rPr>
              <a:t>18시</a:t>
            </a:r>
            <a:endParaRPr lang="ko-KR" sz="478" dirty="0"/>
          </a:p>
        </p:txBody>
      </p:sp>
      <p:pic>
        <p:nvPicPr>
          <p:cNvPr id="39" name="hour icon 4" descr="날씨 아이콘">    </p:cNvPr>
          <p:cNvPicPr>
            <a:picLocks noChangeAspect="1"/>
          </p:cNvPicPr>
          <p:nvPr/>
        </p:nvPicPr>
        <p:blipFill>
          <a:blip r:embed="rId10"/>
          <a:stretch>
            <a:fillRect/>
          </a:stretch>
        </p:blipFill>
        <p:spPr>
          <a:xfrm>
            <a:off x="1838739" y="3546282"/>
            <a:ext cx="127221" cy="127221"/>
          </a:xfrm>
          <a:prstGeom prst="rect">
            <a:avLst/>
          </a:prstGeom>
        </p:spPr>
      </p:pic>
      <p:sp>
        <p:nvSpPr>
          <p:cNvPr id="40" name="hour temp 4"/>
          <p:cNvSpPr txBox="1"/>
          <p:nvPr/>
        </p:nvSpPr>
        <p:spPr>
          <a:xfrm>
            <a:off x="1751275" y="3681454"/>
            <a:ext cx="302150" cy="111318"/>
          </a:xfrm>
          <a:prstGeom prst="rect">
            <a:avLst/>
          </a:prstGeom>
          <a:noFill/>
          <a:ln/>
        </p:spPr>
        <p:txBody>
          <a:bodyPr wrap="square" lIns="0" tIns="0" rIns="0" bIns="0" rtlCol="0" anchor="ctr"/>
          <a:lstStyle/>
          <a:p>
            <a:pPr algn="ctr" indent="0" marL="0">
              <a:buNone/>
            </a:pPr>
            <a:r>
              <a:rPr lang="ko-KR" altLang="en-US" sz="522" dirty="0">
                <a:solidFill>
                  <a:schemeClr val="tx1"/>
                </a:solidFill>
              </a:rPr>
              <a:t>15°</a:t>
            </a:r>
            <a:endParaRPr lang="ko-KR" sz="522" dirty="0"/>
          </a:p>
        </p:txBody>
      </p:sp>
      <p:sp>
        <p:nvSpPr>
          <p:cNvPr id="41" name="hour time 5"/>
          <p:cNvSpPr txBox="1"/>
          <p:nvPr/>
        </p:nvSpPr>
        <p:spPr>
          <a:xfrm>
            <a:off x="2053424" y="3427012"/>
            <a:ext cx="302150" cy="111318"/>
          </a:xfrm>
          <a:prstGeom prst="rect">
            <a:avLst/>
          </a:prstGeom>
          <a:noFill/>
          <a:ln/>
        </p:spPr>
        <p:txBody>
          <a:bodyPr wrap="square" lIns="0" tIns="0" rIns="0" bIns="0" rtlCol="0" anchor="ctr"/>
          <a:lstStyle/>
          <a:p>
            <a:pPr algn="ctr" indent="0" marL="0">
              <a:buNone/>
            </a:pPr>
            <a:r>
              <a:rPr lang="ko-KR" altLang="en-US" sz="478" dirty="0">
                <a:solidFill>
                  <a:schemeClr val="tx2"/>
                </a:solidFill>
              </a:rPr>
              <a:t>19시</a:t>
            </a:r>
            <a:endParaRPr lang="ko-KR" sz="478" dirty="0"/>
          </a:p>
        </p:txBody>
      </p:sp>
      <p:pic>
        <p:nvPicPr>
          <p:cNvPr id="42" name="hour icon 5" descr="날씨 아이콘">    </p:cNvPr>
          <p:cNvPicPr>
            <a:picLocks noChangeAspect="1"/>
          </p:cNvPicPr>
          <p:nvPr/>
        </p:nvPicPr>
        <p:blipFill>
          <a:blip r:embed="rId11"/>
          <a:stretch>
            <a:fillRect/>
          </a:stretch>
        </p:blipFill>
        <p:spPr>
          <a:xfrm>
            <a:off x="2140889" y="3546282"/>
            <a:ext cx="127221" cy="127221"/>
          </a:xfrm>
          <a:prstGeom prst="rect">
            <a:avLst/>
          </a:prstGeom>
        </p:spPr>
      </p:pic>
      <p:sp>
        <p:nvSpPr>
          <p:cNvPr id="43" name="hour temp 5"/>
          <p:cNvSpPr txBox="1"/>
          <p:nvPr/>
        </p:nvSpPr>
        <p:spPr>
          <a:xfrm>
            <a:off x="2053424" y="3681454"/>
            <a:ext cx="302150" cy="111318"/>
          </a:xfrm>
          <a:prstGeom prst="rect">
            <a:avLst/>
          </a:prstGeom>
          <a:noFill/>
          <a:ln/>
        </p:spPr>
        <p:txBody>
          <a:bodyPr wrap="square" lIns="0" tIns="0" rIns="0" bIns="0" rtlCol="0" anchor="ctr"/>
          <a:lstStyle/>
          <a:p>
            <a:pPr algn="ctr" indent="0" marL="0">
              <a:buNone/>
            </a:pPr>
            <a:r>
              <a:rPr lang="ko-KR" altLang="en-US" sz="522" dirty="0">
                <a:solidFill>
                  <a:schemeClr val="tx1"/>
                </a:solidFill>
              </a:rPr>
              <a:t>14°</a:t>
            </a:r>
            <a:endParaRPr lang="ko-KR" sz="522" dirty="0"/>
          </a:p>
        </p:txBody>
      </p:sp>
      <p:sp>
        <p:nvSpPr>
          <p:cNvPr id="44" name="daily card"/>
          <p:cNvSpPr/>
          <p:nvPr/>
        </p:nvSpPr>
        <p:spPr>
          <a:xfrm>
            <a:off x="844826" y="3904090"/>
            <a:ext cx="1510748" cy="516835"/>
          </a:xfrm>
          <a:prstGeom prst="roundRect">
            <a:avLst>
              <a:gd name="adj" fmla="val 15385"/>
            </a:avLst>
          </a:prstGeom>
          <a:solidFill>
            <a:schemeClr val="bg1"/>
          </a:solidFill>
          <a:ln/>
        </p:spPr>
      </p:sp>
      <p:sp>
        <p:nvSpPr>
          <p:cNvPr id="45" name="daily title"/>
          <p:cNvSpPr txBox="1"/>
          <p:nvPr/>
        </p:nvSpPr>
        <p:spPr>
          <a:xfrm>
            <a:off x="924339" y="3935896"/>
            <a:ext cx="954157" cy="127221"/>
          </a:xfrm>
          <a:prstGeom prst="rect">
            <a:avLst/>
          </a:prstGeom>
          <a:noFill/>
          <a:ln/>
        </p:spPr>
        <p:txBody>
          <a:bodyPr wrap="square" lIns="0" tIns="0" rIns="0" bIns="0" rtlCol="0" anchor="ctr"/>
          <a:lstStyle/>
          <a:p>
            <a:pPr indent="0" marL="0">
              <a:buNone/>
            </a:pPr>
            <a:r>
              <a:rPr lang="ko-KR" altLang="en-US" sz="522" b="1" dirty="0">
                <a:solidFill>
                  <a:schemeClr val="tx1"/>
                </a:solidFill>
              </a:rPr>
              <a:t>7일 예보</a:t>
            </a:r>
            <a:endParaRPr lang="ko-KR" sz="522" dirty="0"/>
          </a:p>
        </p:txBody>
      </p:sp>
      <p:sp>
        <p:nvSpPr>
          <p:cNvPr id="46" name="day date 1"/>
          <p:cNvSpPr txBox="1"/>
          <p:nvPr/>
        </p:nvSpPr>
        <p:spPr>
          <a:xfrm>
            <a:off x="924339" y="4079019"/>
            <a:ext cx="556591" cy="143123"/>
          </a:xfrm>
          <a:prstGeom prst="rect">
            <a:avLst/>
          </a:prstGeom>
          <a:noFill/>
          <a:ln/>
        </p:spPr>
        <p:txBody>
          <a:bodyPr wrap="square" lIns="0" tIns="0" rIns="0" bIns="0" rtlCol="0" anchor="ctr"/>
          <a:lstStyle/>
          <a:p>
            <a:pPr indent="0" marL="0">
              <a:buNone/>
            </a:pPr>
            <a:r>
              <a:rPr lang="ko-KR" altLang="en-US" sz="522" dirty="0">
                <a:solidFill>
                  <a:schemeClr val="tx1"/>
                </a:solidFill>
              </a:rPr>
              <a:t>10/29 목</a:t>
            </a:r>
            <a:endParaRPr lang="ko-KR" sz="522" dirty="0"/>
          </a:p>
        </p:txBody>
      </p:sp>
      <p:pic>
        <p:nvPicPr>
          <p:cNvPr id="47" name="day icon 1" descr="날씨 아이콘">    </p:cNvPr>
          <p:cNvPicPr>
            <a:picLocks noChangeAspect="1"/>
          </p:cNvPicPr>
          <p:nvPr/>
        </p:nvPicPr>
        <p:blipFill>
          <a:blip r:embed="rId12"/>
          <a:stretch>
            <a:fillRect/>
          </a:stretch>
        </p:blipFill>
        <p:spPr>
          <a:xfrm>
            <a:off x="1520687" y="4086970"/>
            <a:ext cx="127221" cy="127221"/>
          </a:xfrm>
          <a:prstGeom prst="rect">
            <a:avLst/>
          </a:prstGeom>
        </p:spPr>
      </p:pic>
      <p:sp>
        <p:nvSpPr>
          <p:cNvPr id="48" name="day temp 1"/>
          <p:cNvSpPr txBox="1"/>
          <p:nvPr/>
        </p:nvSpPr>
        <p:spPr>
          <a:xfrm>
            <a:off x="1679713" y="4079019"/>
            <a:ext cx="596348" cy="143123"/>
          </a:xfrm>
          <a:prstGeom prst="rect">
            <a:avLst/>
          </a:prstGeom>
          <a:noFill/>
          <a:ln/>
        </p:spPr>
        <p:txBody>
          <a:bodyPr wrap="square" lIns="0" tIns="0" rIns="0" bIns="0" rtlCol="0" anchor="ctr"/>
          <a:lstStyle/>
          <a:p>
            <a:pPr algn="r" indent="0" marL="0">
              <a:buNone/>
            </a:pPr>
            <a:r>
              <a:rPr lang="ko-KR" altLang="en-US" sz="522" dirty="0">
                <a:solidFill>
                  <a:schemeClr val="tx1"/>
                </a:solidFill>
              </a:rPr>
              <a:t>11° / 18°</a:t>
            </a:r>
            <a:endParaRPr lang="ko-KR" sz="522" dirty="0"/>
          </a:p>
        </p:txBody>
      </p:sp>
      <p:sp>
        <p:nvSpPr>
          <p:cNvPr id="49" name="day date 2"/>
          <p:cNvSpPr txBox="1"/>
          <p:nvPr/>
        </p:nvSpPr>
        <p:spPr>
          <a:xfrm>
            <a:off x="924339" y="4238045"/>
            <a:ext cx="556591" cy="143123"/>
          </a:xfrm>
          <a:prstGeom prst="rect">
            <a:avLst/>
          </a:prstGeom>
          <a:noFill/>
          <a:ln/>
        </p:spPr>
        <p:txBody>
          <a:bodyPr wrap="square" lIns="0" tIns="0" rIns="0" bIns="0" rtlCol="0" anchor="ctr"/>
          <a:lstStyle/>
          <a:p>
            <a:pPr indent="0" marL="0">
              <a:buNone/>
            </a:pPr>
            <a:r>
              <a:rPr lang="ko-KR" altLang="en-US" sz="522" dirty="0">
                <a:solidFill>
                  <a:schemeClr val="tx1"/>
                </a:solidFill>
              </a:rPr>
              <a:t>10/30 금</a:t>
            </a:r>
            <a:endParaRPr lang="ko-KR" sz="522" dirty="0"/>
          </a:p>
        </p:txBody>
      </p:sp>
      <p:pic>
        <p:nvPicPr>
          <p:cNvPr id="50" name="day icon 2" descr="날씨 아이콘">    </p:cNvPr>
          <p:cNvPicPr>
            <a:picLocks noChangeAspect="1"/>
          </p:cNvPicPr>
          <p:nvPr/>
        </p:nvPicPr>
        <p:blipFill>
          <a:blip r:embed="rId13"/>
          <a:stretch>
            <a:fillRect/>
          </a:stretch>
        </p:blipFill>
        <p:spPr>
          <a:xfrm>
            <a:off x="1520687" y="4245997"/>
            <a:ext cx="127221" cy="127221"/>
          </a:xfrm>
          <a:prstGeom prst="rect">
            <a:avLst/>
          </a:prstGeom>
        </p:spPr>
      </p:pic>
      <p:sp>
        <p:nvSpPr>
          <p:cNvPr id="51" name="day temp 2"/>
          <p:cNvSpPr txBox="1"/>
          <p:nvPr/>
        </p:nvSpPr>
        <p:spPr>
          <a:xfrm>
            <a:off x="1679713" y="4238045"/>
            <a:ext cx="596348" cy="143123"/>
          </a:xfrm>
          <a:prstGeom prst="rect">
            <a:avLst/>
          </a:prstGeom>
          <a:noFill/>
          <a:ln/>
        </p:spPr>
        <p:txBody>
          <a:bodyPr wrap="square" lIns="0" tIns="0" rIns="0" bIns="0" rtlCol="0" anchor="ctr"/>
          <a:lstStyle/>
          <a:p>
            <a:pPr algn="r" indent="0" marL="0">
              <a:buNone/>
            </a:pPr>
            <a:r>
              <a:rPr lang="ko-KR" altLang="en-US" sz="522" dirty="0">
                <a:solidFill>
                  <a:schemeClr val="tx1"/>
                </a:solidFill>
              </a:rPr>
              <a:t>9° / 15°</a:t>
            </a:r>
            <a:endParaRPr lang="ko-KR" sz="522" dirty="0"/>
          </a:p>
        </p:txBody>
      </p:sp>
      <p:sp>
        <p:nvSpPr>
          <p:cNvPr id="52" name="phone badge 1"/>
          <p:cNvSpPr/>
          <p:nvPr/>
        </p:nvSpPr>
        <p:spPr>
          <a:xfrm>
            <a:off x="2368296" y="1484906"/>
            <a:ext cx="274320" cy="274320"/>
          </a:xfrm>
          <a:prstGeom prst="ellipse">
            <a:avLst/>
          </a:prstGeom>
          <a:solidFill>
            <a:schemeClr val="accent3"/>
          </a:solidFill>
          <a:ln w="19050">
            <a:solidFill>
              <a:schemeClr val="bg1"/>
            </a:solidFill>
            <a:prstDash val="solid"/>
          </a:ln>
        </p:spPr>
      </p:sp>
      <p:sp>
        <p:nvSpPr>
          <p:cNvPr id="53" name="phone badge num 1"/>
          <p:cNvSpPr txBox="1"/>
          <p:nvPr/>
        </p:nvSpPr>
        <p:spPr>
          <a:xfrm>
            <a:off x="2368296" y="1484906"/>
            <a:ext cx="274320" cy="274320"/>
          </a:xfrm>
          <a:prstGeom prst="rect">
            <a:avLst/>
          </a:prstGeom>
          <a:noFill/>
          <a:ln/>
        </p:spPr>
        <p:txBody>
          <a:bodyPr wrap="square" lIns="0" tIns="0" rIns="0" bIns="0" rtlCol="0" anchor="ctr"/>
          <a:lstStyle/>
          <a:p>
            <a:pPr algn="ctr" indent="0" marL="0">
              <a:buNone/>
            </a:pPr>
            <a:r>
              <a:rPr lang="ko-KR" altLang="en-US" sz="1100" b="1" dirty="0">
                <a:solidFill>
                  <a:schemeClr val="bg1"/>
                </a:solidFill>
              </a:rPr>
              <a:t>1</a:t>
            </a:r>
            <a:endParaRPr lang="ko-KR" sz="1100" dirty="0"/>
          </a:p>
        </p:txBody>
      </p:sp>
      <p:sp>
        <p:nvSpPr>
          <p:cNvPr id="54" name="phone badge 2"/>
          <p:cNvSpPr/>
          <p:nvPr/>
        </p:nvSpPr>
        <p:spPr>
          <a:xfrm>
            <a:off x="2368296" y="2132937"/>
            <a:ext cx="274320" cy="274320"/>
          </a:xfrm>
          <a:prstGeom prst="ellipse">
            <a:avLst/>
          </a:prstGeom>
          <a:solidFill>
            <a:schemeClr val="accent3"/>
          </a:solidFill>
          <a:ln w="19050">
            <a:solidFill>
              <a:schemeClr val="bg1"/>
            </a:solidFill>
            <a:prstDash val="solid"/>
          </a:ln>
        </p:spPr>
      </p:sp>
      <p:sp>
        <p:nvSpPr>
          <p:cNvPr id="55" name="phone badge num 2"/>
          <p:cNvSpPr txBox="1"/>
          <p:nvPr/>
        </p:nvSpPr>
        <p:spPr>
          <a:xfrm>
            <a:off x="2368296" y="2132937"/>
            <a:ext cx="274320" cy="274320"/>
          </a:xfrm>
          <a:prstGeom prst="rect">
            <a:avLst/>
          </a:prstGeom>
          <a:noFill/>
          <a:ln/>
        </p:spPr>
        <p:txBody>
          <a:bodyPr wrap="square" lIns="0" tIns="0" rIns="0" bIns="0" rtlCol="0" anchor="ctr"/>
          <a:lstStyle/>
          <a:p>
            <a:pPr algn="ctr" indent="0" marL="0">
              <a:buNone/>
            </a:pPr>
            <a:r>
              <a:rPr lang="ko-KR" altLang="en-US" sz="1100" b="1" dirty="0">
                <a:solidFill>
                  <a:schemeClr val="bg1"/>
                </a:solidFill>
              </a:rPr>
              <a:t>2</a:t>
            </a:r>
            <a:endParaRPr lang="ko-KR" sz="1100" dirty="0"/>
          </a:p>
        </p:txBody>
      </p:sp>
      <p:sp>
        <p:nvSpPr>
          <p:cNvPr id="56" name="phone badge 3"/>
          <p:cNvSpPr/>
          <p:nvPr/>
        </p:nvSpPr>
        <p:spPr>
          <a:xfrm>
            <a:off x="2368296" y="2860482"/>
            <a:ext cx="274320" cy="274320"/>
          </a:xfrm>
          <a:prstGeom prst="ellipse">
            <a:avLst/>
          </a:prstGeom>
          <a:solidFill>
            <a:schemeClr val="accent3"/>
          </a:solidFill>
          <a:ln w="19050">
            <a:solidFill>
              <a:schemeClr val="bg1"/>
            </a:solidFill>
            <a:prstDash val="solid"/>
          </a:ln>
        </p:spPr>
      </p:sp>
      <p:sp>
        <p:nvSpPr>
          <p:cNvPr id="57" name="phone badge num 3"/>
          <p:cNvSpPr txBox="1"/>
          <p:nvPr/>
        </p:nvSpPr>
        <p:spPr>
          <a:xfrm>
            <a:off x="2368296" y="2860482"/>
            <a:ext cx="274320" cy="274320"/>
          </a:xfrm>
          <a:prstGeom prst="rect">
            <a:avLst/>
          </a:prstGeom>
          <a:noFill/>
          <a:ln/>
        </p:spPr>
        <p:txBody>
          <a:bodyPr wrap="square" lIns="0" tIns="0" rIns="0" bIns="0" rtlCol="0" anchor="ctr"/>
          <a:lstStyle/>
          <a:p>
            <a:pPr algn="ctr" indent="0" marL="0">
              <a:buNone/>
            </a:pPr>
            <a:r>
              <a:rPr lang="ko-KR" altLang="en-US" sz="1100" b="1" dirty="0">
                <a:solidFill>
                  <a:schemeClr val="bg1"/>
                </a:solidFill>
              </a:rPr>
              <a:t>3</a:t>
            </a:r>
            <a:endParaRPr lang="ko-KR" sz="1100" dirty="0"/>
          </a:p>
        </p:txBody>
      </p:sp>
      <p:sp>
        <p:nvSpPr>
          <p:cNvPr id="58" name="phone badge 4"/>
          <p:cNvSpPr/>
          <p:nvPr/>
        </p:nvSpPr>
        <p:spPr>
          <a:xfrm>
            <a:off x="2368296" y="3464781"/>
            <a:ext cx="274320" cy="274320"/>
          </a:xfrm>
          <a:prstGeom prst="ellipse">
            <a:avLst/>
          </a:prstGeom>
          <a:solidFill>
            <a:schemeClr val="accent3"/>
          </a:solidFill>
          <a:ln w="19050">
            <a:solidFill>
              <a:schemeClr val="bg1"/>
            </a:solidFill>
            <a:prstDash val="solid"/>
          </a:ln>
        </p:spPr>
      </p:sp>
      <p:sp>
        <p:nvSpPr>
          <p:cNvPr id="59" name="phone badge num 4"/>
          <p:cNvSpPr txBox="1"/>
          <p:nvPr/>
        </p:nvSpPr>
        <p:spPr>
          <a:xfrm>
            <a:off x="2368296" y="3464781"/>
            <a:ext cx="274320" cy="274320"/>
          </a:xfrm>
          <a:prstGeom prst="rect">
            <a:avLst/>
          </a:prstGeom>
          <a:noFill/>
          <a:ln/>
        </p:spPr>
        <p:txBody>
          <a:bodyPr wrap="square" lIns="0" tIns="0" rIns="0" bIns="0" rtlCol="0" anchor="ctr"/>
          <a:lstStyle/>
          <a:p>
            <a:pPr algn="ctr" indent="0" marL="0">
              <a:buNone/>
            </a:pPr>
            <a:r>
              <a:rPr lang="ko-KR" altLang="en-US" sz="1100" b="1" dirty="0">
                <a:solidFill>
                  <a:schemeClr val="bg1"/>
                </a:solidFill>
              </a:rPr>
              <a:t>4</a:t>
            </a:r>
            <a:endParaRPr lang="ko-KR" sz="1100" dirty="0"/>
          </a:p>
        </p:txBody>
      </p:sp>
      <p:sp>
        <p:nvSpPr>
          <p:cNvPr id="60" name="lead"/>
          <p:cNvSpPr txBox="1"/>
          <p:nvPr/>
        </p:nvSpPr>
        <p:spPr>
          <a:xfrm>
            <a:off x="3200400" y="1143000"/>
            <a:ext cx="5486400" cy="411480"/>
          </a:xfrm>
          <a:prstGeom prst="rect">
            <a:avLst/>
          </a:prstGeom>
          <a:noFill/>
          <a:ln/>
        </p:spPr>
        <p:txBody>
          <a:bodyPr wrap="square" lIns="0" tIns="0" rIns="0" bIns="0" rtlCol="0" anchor="ctr"/>
          <a:lstStyle/>
          <a:p>
            <a:pPr indent="0" marL="0">
              <a:buNone/>
            </a:pPr>
            <a:r>
              <a:rPr lang="ko-KR" altLang="en-US" sz="1600" dirty="0">
                <a:solidFill>
                  <a:schemeClr val="tx2"/>
                </a:solidFill>
              </a:rPr>
              <a:t>도시 이름만 검색하면, 그 도시의 날씨를 한 화면에 보여줘요</a:t>
            </a:r>
            <a:endParaRPr lang="ko-KR" sz="1600" dirty="0"/>
          </a:p>
        </p:txBody>
      </p:sp>
      <p:sp>
        <p:nvSpPr>
          <p:cNvPr id="61" name="row num bg 1"/>
          <p:cNvSpPr/>
          <p:nvPr/>
        </p:nvSpPr>
        <p:spPr>
          <a:xfrm>
            <a:off x="3200400" y="1837944"/>
            <a:ext cx="384048" cy="384048"/>
          </a:xfrm>
          <a:prstGeom prst="ellipse">
            <a:avLst/>
          </a:prstGeom>
          <a:solidFill>
            <a:schemeClr val="accent3"/>
          </a:solidFill>
          <a:ln/>
        </p:spPr>
      </p:sp>
      <p:sp>
        <p:nvSpPr>
          <p:cNvPr id="62" name="row num 1"/>
          <p:cNvSpPr txBox="1"/>
          <p:nvPr/>
        </p:nvSpPr>
        <p:spPr>
          <a:xfrm>
            <a:off x="3200400" y="1837944"/>
            <a:ext cx="384048" cy="384048"/>
          </a:xfrm>
          <a:prstGeom prst="rect">
            <a:avLst/>
          </a:prstGeom>
          <a:noFill/>
          <a:ln/>
        </p:spPr>
        <p:txBody>
          <a:bodyPr wrap="square" lIns="0" tIns="0" rIns="0" bIns="0" rtlCol="0" anchor="ctr"/>
          <a:lstStyle/>
          <a:p>
            <a:pPr algn="ctr" indent="0" marL="0">
              <a:buNone/>
            </a:pPr>
            <a:r>
              <a:rPr lang="ko-KR" altLang="en-US" sz="1500" b="1" dirty="0">
                <a:solidFill>
                  <a:schemeClr val="bg1"/>
                </a:solidFill>
              </a:rPr>
              <a:t>1</a:t>
            </a:r>
            <a:endParaRPr lang="ko-KR" sz="1500" dirty="0"/>
          </a:p>
        </p:txBody>
      </p:sp>
      <p:sp>
        <p:nvSpPr>
          <p:cNvPr id="63" name="row head 1"/>
          <p:cNvSpPr txBox="1"/>
          <p:nvPr/>
        </p:nvSpPr>
        <p:spPr>
          <a:xfrm>
            <a:off x="3794760" y="1783080"/>
            <a:ext cx="4846320" cy="292608"/>
          </a:xfrm>
          <a:prstGeom prst="rect">
            <a:avLst/>
          </a:prstGeom>
          <a:noFill/>
          <a:ln/>
        </p:spPr>
        <p:txBody>
          <a:bodyPr wrap="square" lIns="0" tIns="0" rIns="0" bIns="0" rtlCol="0" anchor="ctr"/>
          <a:lstStyle/>
          <a:p>
            <a:pPr indent="0" marL="0">
              <a:buNone/>
            </a:pPr>
            <a:r>
              <a:rPr lang="ko-KR" altLang="en-US" sz="1600" b="1" dirty="0">
                <a:solidFill>
                  <a:schemeClr val="tx1"/>
                </a:solidFill>
              </a:rPr>
              <a:t>도시 검색</a:t>
            </a:r>
            <a:endParaRPr lang="ko-KR" sz="1600" dirty="0"/>
          </a:p>
        </p:txBody>
      </p:sp>
      <p:sp>
        <p:nvSpPr>
          <p:cNvPr id="64" name="row body 1"/>
          <p:cNvSpPr txBox="1"/>
          <p:nvPr/>
        </p:nvSpPr>
        <p:spPr>
          <a:xfrm>
            <a:off x="3794760" y="2084832"/>
            <a:ext cx="4846320" cy="274320"/>
          </a:xfrm>
          <a:prstGeom prst="rect">
            <a:avLst/>
          </a:prstGeom>
          <a:noFill/>
          <a:ln/>
        </p:spPr>
        <p:txBody>
          <a:bodyPr wrap="square" lIns="0" tIns="0" rIns="0" bIns="0" rtlCol="0" anchor="ctr"/>
          <a:lstStyle/>
          <a:p>
            <a:pPr indent="0" marL="0">
              <a:buNone/>
            </a:pPr>
            <a:r>
              <a:rPr lang="ko-KR" altLang="en-US" sz="1400" dirty="0">
                <a:solidFill>
                  <a:schemeClr val="tx2"/>
                </a:solidFill>
              </a:rPr>
              <a:t>'서울', 'Tokyo'처럼 한국어·영어 모두 검색돼요</a:t>
            </a:r>
            <a:endParaRPr lang="ko-KR" sz="1400" dirty="0"/>
          </a:p>
        </p:txBody>
      </p:sp>
      <p:sp>
        <p:nvSpPr>
          <p:cNvPr id="65" name="row num bg 2"/>
          <p:cNvSpPr/>
          <p:nvPr/>
        </p:nvSpPr>
        <p:spPr>
          <a:xfrm>
            <a:off x="3200400" y="2551176"/>
            <a:ext cx="384048" cy="384048"/>
          </a:xfrm>
          <a:prstGeom prst="ellipse">
            <a:avLst/>
          </a:prstGeom>
          <a:solidFill>
            <a:schemeClr val="accent3"/>
          </a:solidFill>
          <a:ln/>
        </p:spPr>
      </p:sp>
      <p:sp>
        <p:nvSpPr>
          <p:cNvPr id="66" name="row num 2"/>
          <p:cNvSpPr txBox="1"/>
          <p:nvPr/>
        </p:nvSpPr>
        <p:spPr>
          <a:xfrm>
            <a:off x="3200400" y="2551176"/>
            <a:ext cx="384048" cy="384048"/>
          </a:xfrm>
          <a:prstGeom prst="rect">
            <a:avLst/>
          </a:prstGeom>
          <a:noFill/>
          <a:ln/>
        </p:spPr>
        <p:txBody>
          <a:bodyPr wrap="square" lIns="0" tIns="0" rIns="0" bIns="0" rtlCol="0" anchor="ctr"/>
          <a:lstStyle/>
          <a:p>
            <a:pPr algn="ctr" indent="0" marL="0">
              <a:buNone/>
            </a:pPr>
            <a:r>
              <a:rPr lang="ko-KR" altLang="en-US" sz="1500" b="1" dirty="0">
                <a:solidFill>
                  <a:schemeClr val="bg1"/>
                </a:solidFill>
              </a:rPr>
              <a:t>2</a:t>
            </a:r>
            <a:endParaRPr lang="ko-KR" sz="1500" dirty="0"/>
          </a:p>
        </p:txBody>
      </p:sp>
      <p:sp>
        <p:nvSpPr>
          <p:cNvPr id="67" name="row head 2"/>
          <p:cNvSpPr txBox="1"/>
          <p:nvPr/>
        </p:nvSpPr>
        <p:spPr>
          <a:xfrm>
            <a:off x="3794760" y="2496312"/>
            <a:ext cx="4846320" cy="292608"/>
          </a:xfrm>
          <a:prstGeom prst="rect">
            <a:avLst/>
          </a:prstGeom>
          <a:noFill/>
          <a:ln/>
        </p:spPr>
        <p:txBody>
          <a:bodyPr wrap="square" lIns="0" tIns="0" rIns="0" bIns="0" rtlCol="0" anchor="ctr"/>
          <a:lstStyle/>
          <a:p>
            <a:pPr indent="0" marL="0">
              <a:buNone/>
            </a:pPr>
            <a:r>
              <a:rPr lang="ko-KR" altLang="en-US" sz="1600" b="1" dirty="0">
                <a:solidFill>
                  <a:schemeClr val="tx1"/>
                </a:solidFill>
              </a:rPr>
              <a:t>지금 날씨</a:t>
            </a:r>
            <a:endParaRPr lang="ko-KR" sz="1600" dirty="0"/>
          </a:p>
        </p:txBody>
      </p:sp>
      <p:sp>
        <p:nvSpPr>
          <p:cNvPr id="68" name="row body 2"/>
          <p:cNvSpPr txBox="1"/>
          <p:nvPr/>
        </p:nvSpPr>
        <p:spPr>
          <a:xfrm>
            <a:off x="3794760" y="2798064"/>
            <a:ext cx="4846320" cy="274320"/>
          </a:xfrm>
          <a:prstGeom prst="rect">
            <a:avLst/>
          </a:prstGeom>
          <a:noFill/>
          <a:ln/>
        </p:spPr>
        <p:txBody>
          <a:bodyPr wrap="square" lIns="0" tIns="0" rIns="0" bIns="0" rtlCol="0" anchor="ctr"/>
          <a:lstStyle/>
          <a:p>
            <a:pPr indent="0" marL="0">
              <a:buNone/>
            </a:pPr>
            <a:r>
              <a:rPr lang="ko-KR" altLang="en-US" sz="1400" dirty="0">
                <a:solidFill>
                  <a:schemeClr val="tx2"/>
                </a:solidFill>
              </a:rPr>
              <a:t>현재 온도와 날씨 상태 (맑음 · 비 · 눈 …)</a:t>
            </a:r>
            <a:endParaRPr lang="ko-KR" sz="1400" dirty="0"/>
          </a:p>
        </p:txBody>
      </p:sp>
      <p:sp>
        <p:nvSpPr>
          <p:cNvPr id="69" name="row num bg 3"/>
          <p:cNvSpPr/>
          <p:nvPr/>
        </p:nvSpPr>
        <p:spPr>
          <a:xfrm>
            <a:off x="3200400" y="3264408"/>
            <a:ext cx="384048" cy="384048"/>
          </a:xfrm>
          <a:prstGeom prst="ellipse">
            <a:avLst/>
          </a:prstGeom>
          <a:solidFill>
            <a:schemeClr val="accent3"/>
          </a:solidFill>
          <a:ln/>
        </p:spPr>
      </p:sp>
      <p:sp>
        <p:nvSpPr>
          <p:cNvPr id="70" name="row num 3"/>
          <p:cNvSpPr txBox="1"/>
          <p:nvPr/>
        </p:nvSpPr>
        <p:spPr>
          <a:xfrm>
            <a:off x="3200400" y="3264408"/>
            <a:ext cx="384048" cy="384048"/>
          </a:xfrm>
          <a:prstGeom prst="rect">
            <a:avLst/>
          </a:prstGeom>
          <a:noFill/>
          <a:ln/>
        </p:spPr>
        <p:txBody>
          <a:bodyPr wrap="square" lIns="0" tIns="0" rIns="0" bIns="0" rtlCol="0" anchor="ctr"/>
          <a:lstStyle/>
          <a:p>
            <a:pPr algn="ctr" indent="0" marL="0">
              <a:buNone/>
            </a:pPr>
            <a:r>
              <a:rPr lang="ko-KR" altLang="en-US" sz="1500" b="1" dirty="0">
                <a:solidFill>
                  <a:schemeClr val="bg1"/>
                </a:solidFill>
              </a:rPr>
              <a:t>3</a:t>
            </a:r>
            <a:endParaRPr lang="ko-KR" sz="1500" dirty="0"/>
          </a:p>
        </p:txBody>
      </p:sp>
      <p:sp>
        <p:nvSpPr>
          <p:cNvPr id="71" name="row head 3"/>
          <p:cNvSpPr txBox="1"/>
          <p:nvPr/>
        </p:nvSpPr>
        <p:spPr>
          <a:xfrm>
            <a:off x="3794760" y="3209544"/>
            <a:ext cx="4846320" cy="292608"/>
          </a:xfrm>
          <a:prstGeom prst="rect">
            <a:avLst/>
          </a:prstGeom>
          <a:noFill/>
          <a:ln/>
        </p:spPr>
        <p:txBody>
          <a:bodyPr wrap="square" lIns="0" tIns="0" rIns="0" bIns="0" rtlCol="0" anchor="ctr"/>
          <a:lstStyle/>
          <a:p>
            <a:pPr indent="0" marL="0">
              <a:buNone/>
            </a:pPr>
            <a:r>
              <a:rPr lang="ko-KR" altLang="en-US" sz="1600" b="1" dirty="0">
                <a:solidFill>
                  <a:schemeClr val="tx1"/>
                </a:solidFill>
              </a:rPr>
              <a:t>세부 정보</a:t>
            </a:r>
            <a:endParaRPr lang="ko-KR" sz="1600" dirty="0"/>
          </a:p>
        </p:txBody>
      </p:sp>
      <p:sp>
        <p:nvSpPr>
          <p:cNvPr id="72" name="row body 3"/>
          <p:cNvSpPr txBox="1"/>
          <p:nvPr/>
        </p:nvSpPr>
        <p:spPr>
          <a:xfrm>
            <a:off x="3794760" y="3511296"/>
            <a:ext cx="4846320" cy="274320"/>
          </a:xfrm>
          <a:prstGeom prst="rect">
            <a:avLst/>
          </a:prstGeom>
          <a:noFill/>
          <a:ln/>
        </p:spPr>
        <p:txBody>
          <a:bodyPr wrap="square" lIns="0" tIns="0" rIns="0" bIns="0" rtlCol="0" anchor="ctr"/>
          <a:lstStyle/>
          <a:p>
            <a:pPr indent="0" marL="0">
              <a:buNone/>
            </a:pPr>
            <a:r>
              <a:rPr lang="ko-KR" altLang="en-US" sz="1400" dirty="0">
                <a:solidFill>
                  <a:schemeClr val="tx2"/>
                </a:solidFill>
              </a:rPr>
              <a:t>체감 온도 · 습도 · 바람 · 강수량</a:t>
            </a:r>
            <a:endParaRPr lang="ko-KR" sz="1400" dirty="0"/>
          </a:p>
        </p:txBody>
      </p:sp>
      <p:sp>
        <p:nvSpPr>
          <p:cNvPr id="73" name="row num bg 4"/>
          <p:cNvSpPr/>
          <p:nvPr/>
        </p:nvSpPr>
        <p:spPr>
          <a:xfrm>
            <a:off x="3200400" y="3977640"/>
            <a:ext cx="384048" cy="384048"/>
          </a:xfrm>
          <a:prstGeom prst="ellipse">
            <a:avLst/>
          </a:prstGeom>
          <a:solidFill>
            <a:schemeClr val="accent3"/>
          </a:solidFill>
          <a:ln/>
        </p:spPr>
      </p:sp>
      <p:sp>
        <p:nvSpPr>
          <p:cNvPr id="74" name="row num 4"/>
          <p:cNvSpPr txBox="1"/>
          <p:nvPr/>
        </p:nvSpPr>
        <p:spPr>
          <a:xfrm>
            <a:off x="3200400" y="3977640"/>
            <a:ext cx="384048" cy="384048"/>
          </a:xfrm>
          <a:prstGeom prst="rect">
            <a:avLst/>
          </a:prstGeom>
          <a:noFill/>
          <a:ln/>
        </p:spPr>
        <p:txBody>
          <a:bodyPr wrap="square" lIns="0" tIns="0" rIns="0" bIns="0" rtlCol="0" anchor="ctr"/>
          <a:lstStyle/>
          <a:p>
            <a:pPr algn="ctr" indent="0" marL="0">
              <a:buNone/>
            </a:pPr>
            <a:r>
              <a:rPr lang="ko-KR" altLang="en-US" sz="1500" b="1" dirty="0">
                <a:solidFill>
                  <a:schemeClr val="bg1"/>
                </a:solidFill>
              </a:rPr>
              <a:t>4</a:t>
            </a:r>
            <a:endParaRPr lang="ko-KR" sz="1500" dirty="0"/>
          </a:p>
        </p:txBody>
      </p:sp>
      <p:sp>
        <p:nvSpPr>
          <p:cNvPr id="75" name="row head 4"/>
          <p:cNvSpPr txBox="1"/>
          <p:nvPr/>
        </p:nvSpPr>
        <p:spPr>
          <a:xfrm>
            <a:off x="3794760" y="3922776"/>
            <a:ext cx="4846320" cy="292608"/>
          </a:xfrm>
          <a:prstGeom prst="rect">
            <a:avLst/>
          </a:prstGeom>
          <a:noFill/>
          <a:ln/>
        </p:spPr>
        <p:txBody>
          <a:bodyPr wrap="square" lIns="0" tIns="0" rIns="0" bIns="0" rtlCol="0" anchor="ctr"/>
          <a:lstStyle/>
          <a:p>
            <a:pPr indent="0" marL="0">
              <a:buNone/>
            </a:pPr>
            <a:r>
              <a:rPr lang="ko-KR" altLang="en-US" sz="1600" b="1" dirty="0">
                <a:solidFill>
                  <a:schemeClr val="tx1"/>
                </a:solidFill>
              </a:rPr>
              <a:t>예보</a:t>
            </a:r>
            <a:endParaRPr lang="ko-KR" sz="1600" dirty="0"/>
          </a:p>
        </p:txBody>
      </p:sp>
      <p:sp>
        <p:nvSpPr>
          <p:cNvPr id="76" name="row body 4"/>
          <p:cNvSpPr txBox="1"/>
          <p:nvPr/>
        </p:nvSpPr>
        <p:spPr>
          <a:xfrm>
            <a:off x="3794760" y="4224528"/>
            <a:ext cx="4846320" cy="274320"/>
          </a:xfrm>
          <a:prstGeom prst="rect">
            <a:avLst/>
          </a:prstGeom>
          <a:noFill/>
          <a:ln/>
        </p:spPr>
        <p:txBody>
          <a:bodyPr wrap="square" lIns="0" tIns="0" rIns="0" bIns="0" rtlCol="0" anchor="ctr"/>
          <a:lstStyle/>
          <a:p>
            <a:pPr indent="0" marL="0">
              <a:buNone/>
            </a:pPr>
            <a:r>
              <a:rPr lang="ko-KR" altLang="en-US" sz="1400" dirty="0">
                <a:solidFill>
                  <a:schemeClr val="tx2"/>
                </a:solidFill>
              </a:rPr>
              <a:t>앞으로 12시간 + 7일 동안의 날씨</a:t>
            </a:r>
            <a:endParaRPr lang="ko-KR"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숨은 디테일 3가지</a:t>
            </a:r>
            <a:endParaRPr lang="en-US" sz="3400" dirty="0"/>
          </a:p>
        </p:txBody>
      </p:sp>
      <p:sp>
        <p:nvSpPr>
          <p:cNvPr id="3" name="detail card 1"/>
          <p:cNvSpPr/>
          <p:nvPr/>
        </p:nvSpPr>
        <p:spPr>
          <a:xfrm>
            <a:off x="457200" y="1188720"/>
            <a:ext cx="2651760" cy="3474720"/>
          </a:xfrm>
          <a:prstGeom prst="roundRect">
            <a:avLst>
              <a:gd name="adj" fmla="val 5172"/>
            </a:avLst>
          </a:prstGeom>
          <a:solidFill>
            <a:schemeClr val="bg2"/>
          </a:solidFill>
          <a:ln/>
        </p:spPr>
      </p:sp>
      <p:sp>
        <p:nvSpPr>
          <p:cNvPr id="4" name="detail 1 circle"/>
          <p:cNvSpPr/>
          <p:nvPr/>
        </p:nvSpPr>
        <p:spPr>
          <a:xfrm>
            <a:off x="731520" y="1417320"/>
            <a:ext cx="640080" cy="640080"/>
          </a:xfrm>
          <a:prstGeom prst="ellipse">
            <a:avLst/>
          </a:prstGeom>
          <a:solidFill>
            <a:schemeClr val="accent2"/>
          </a:solidFill>
          <a:ln/>
        </p:spPr>
      </p:sp>
      <p:pic>
        <p:nvPicPr>
          <p:cNvPr id="5" name="detail 1 icon" descr="detail 1">    </p:cNvPr>
          <p:cNvPicPr>
            <a:picLocks noChangeAspect="1"/>
          </p:cNvPicPr>
          <p:nvPr/>
        </p:nvPicPr>
        <p:blipFill>
          <a:blip r:embed="rId1"/>
          <a:stretch>
            <a:fillRect/>
          </a:stretch>
        </p:blipFill>
        <p:spPr>
          <a:xfrm>
            <a:off x="872338" y="1558138"/>
            <a:ext cx="358445" cy="358445"/>
          </a:xfrm>
          <a:prstGeom prst="rect">
            <a:avLst/>
          </a:prstGeom>
        </p:spPr>
      </p:pic>
      <p:sp>
        <p:nvSpPr>
          <p:cNvPr id="6" name="detail head 1"/>
          <p:cNvSpPr txBox="1"/>
          <p:nvPr/>
        </p:nvSpPr>
        <p:spPr>
          <a:xfrm>
            <a:off x="731520" y="2194560"/>
            <a:ext cx="2103120" cy="365760"/>
          </a:xfrm>
          <a:prstGeom prst="rect">
            <a:avLst/>
          </a:prstGeom>
          <a:noFill/>
          <a:ln/>
        </p:spPr>
        <p:txBody>
          <a:bodyPr wrap="square" lIns="0" tIns="0" rIns="0" bIns="0" rtlCol="0" anchor="ctr"/>
          <a:lstStyle/>
          <a:p>
            <a:pPr indent="0" marL="0">
              <a:buNone/>
            </a:pPr>
            <a:r>
              <a:rPr lang="ko-KR" altLang="en-US" sz="1800" b="1" dirty="0">
                <a:solidFill>
                  <a:schemeClr val="tx1"/>
                </a:solidFill>
              </a:rPr>
              <a:t>날씨 따라 바뀌는 색</a:t>
            </a:r>
            <a:endParaRPr lang="ko-KR" sz="1800" dirty="0"/>
          </a:p>
        </p:txBody>
      </p:sp>
      <p:sp>
        <p:nvSpPr>
          <p:cNvPr id="7" name="detail body 1"/>
          <p:cNvSpPr txBox="1"/>
          <p:nvPr/>
        </p:nvSpPr>
        <p:spPr>
          <a:xfrm>
            <a:off x="731520" y="2606040"/>
            <a:ext cx="2103120" cy="1097280"/>
          </a:xfrm>
          <a:prstGeom prst="rect">
            <a:avLst/>
          </a:prstGeom>
          <a:noFill/>
          <a:ln/>
        </p:spPr>
        <p:txBody>
          <a:bodyPr wrap="square" lIns="0" tIns="0" rIns="0" bIns="0" rtlCol="0" anchor="t"/>
          <a:lstStyle/>
          <a:p>
            <a:pPr indent="0" marL="0">
              <a:buNone/>
            </a:pPr>
            <a:r>
              <a:rPr lang="ko-KR" altLang="en-US" sz="1400" dirty="0">
                <a:solidFill>
                  <a:schemeClr val="tx2"/>
                </a:solidFill>
              </a:rPr>
              <a:t>맑은 날, 흐린 날, 비 오는 날, 밤마다 날씨 카드 색이 달라져요</a:t>
            </a:r>
            <a:endParaRPr lang="ko-KR" sz="1400" dirty="0"/>
          </a:p>
        </p:txBody>
      </p:sp>
      <p:sp>
        <p:nvSpPr>
          <p:cNvPr id="8" name="detail card 2"/>
          <p:cNvSpPr/>
          <p:nvPr/>
        </p:nvSpPr>
        <p:spPr>
          <a:xfrm>
            <a:off x="3291840" y="1188720"/>
            <a:ext cx="2651760" cy="3474720"/>
          </a:xfrm>
          <a:prstGeom prst="roundRect">
            <a:avLst>
              <a:gd name="adj" fmla="val 5172"/>
            </a:avLst>
          </a:prstGeom>
          <a:solidFill>
            <a:schemeClr val="bg2"/>
          </a:solidFill>
          <a:ln/>
        </p:spPr>
      </p:sp>
      <p:sp>
        <p:nvSpPr>
          <p:cNvPr id="9" name="detail 2 circle"/>
          <p:cNvSpPr/>
          <p:nvPr/>
        </p:nvSpPr>
        <p:spPr>
          <a:xfrm>
            <a:off x="3566160" y="1417320"/>
            <a:ext cx="640080" cy="640080"/>
          </a:xfrm>
          <a:prstGeom prst="ellipse">
            <a:avLst/>
          </a:prstGeom>
          <a:solidFill>
            <a:schemeClr val="accent4"/>
          </a:solidFill>
          <a:ln/>
        </p:spPr>
      </p:sp>
      <p:pic>
        <p:nvPicPr>
          <p:cNvPr id="10" name="detail 2 icon" descr="detail 2">    </p:cNvPr>
          <p:cNvPicPr>
            <a:picLocks noChangeAspect="1"/>
          </p:cNvPicPr>
          <p:nvPr/>
        </p:nvPicPr>
        <p:blipFill>
          <a:blip r:embed="rId2"/>
          <a:stretch>
            <a:fillRect/>
          </a:stretch>
        </p:blipFill>
        <p:spPr>
          <a:xfrm>
            <a:off x="3706978" y="1558138"/>
            <a:ext cx="358445" cy="358445"/>
          </a:xfrm>
          <a:prstGeom prst="rect">
            <a:avLst/>
          </a:prstGeom>
        </p:spPr>
      </p:pic>
      <p:sp>
        <p:nvSpPr>
          <p:cNvPr id="11" name="detail head 2"/>
          <p:cNvSpPr txBox="1"/>
          <p:nvPr/>
        </p:nvSpPr>
        <p:spPr>
          <a:xfrm>
            <a:off x="3566160" y="2194560"/>
            <a:ext cx="2103120" cy="365760"/>
          </a:xfrm>
          <a:prstGeom prst="rect">
            <a:avLst/>
          </a:prstGeom>
          <a:noFill/>
          <a:ln/>
        </p:spPr>
        <p:txBody>
          <a:bodyPr wrap="square" lIns="0" tIns="0" rIns="0" bIns="0" rtlCol="0" anchor="ctr"/>
          <a:lstStyle/>
          <a:p>
            <a:pPr indent="0" marL="0">
              <a:buNone/>
            </a:pPr>
            <a:r>
              <a:rPr lang="ko-KR" altLang="en-US" sz="1800" b="1" dirty="0">
                <a:solidFill>
                  <a:schemeClr val="tx1"/>
                </a:solidFill>
              </a:rPr>
              <a:t>마지막 도시 기억</a:t>
            </a:r>
            <a:endParaRPr lang="ko-KR" sz="1800" dirty="0"/>
          </a:p>
        </p:txBody>
      </p:sp>
      <p:sp>
        <p:nvSpPr>
          <p:cNvPr id="12" name="detail body 2"/>
          <p:cNvSpPr txBox="1"/>
          <p:nvPr/>
        </p:nvSpPr>
        <p:spPr>
          <a:xfrm>
            <a:off x="3566160" y="2606040"/>
            <a:ext cx="2103120" cy="1097280"/>
          </a:xfrm>
          <a:prstGeom prst="rect">
            <a:avLst/>
          </a:prstGeom>
          <a:noFill/>
          <a:ln/>
        </p:spPr>
        <p:txBody>
          <a:bodyPr wrap="square" lIns="0" tIns="0" rIns="0" bIns="0" rtlCol="0" anchor="t"/>
          <a:lstStyle/>
          <a:p>
            <a:pPr indent="0" marL="0">
              <a:buNone/>
            </a:pPr>
            <a:r>
              <a:rPr lang="ko-KR" altLang="en-US" sz="1400" dirty="0">
                <a:solidFill>
                  <a:schemeClr val="tx2"/>
                </a:solidFill>
              </a:rPr>
              <a:t>부산을 보고 앱을 껐다면, 다음에 켤 때 바로 부산 날씨부터 보여줘요</a:t>
            </a:r>
            <a:endParaRPr lang="ko-KR" sz="1400" dirty="0"/>
          </a:p>
        </p:txBody>
      </p:sp>
      <p:sp>
        <p:nvSpPr>
          <p:cNvPr id="13" name="detail card 3"/>
          <p:cNvSpPr/>
          <p:nvPr/>
        </p:nvSpPr>
        <p:spPr>
          <a:xfrm>
            <a:off x="6126480" y="1188720"/>
            <a:ext cx="2651760" cy="3474720"/>
          </a:xfrm>
          <a:prstGeom prst="roundRect">
            <a:avLst>
              <a:gd name="adj" fmla="val 5172"/>
            </a:avLst>
          </a:prstGeom>
          <a:solidFill>
            <a:schemeClr val="bg2"/>
          </a:solidFill>
          <a:ln/>
        </p:spPr>
      </p:sp>
      <p:sp>
        <p:nvSpPr>
          <p:cNvPr id="14" name="detail 3 circle"/>
          <p:cNvSpPr/>
          <p:nvPr/>
        </p:nvSpPr>
        <p:spPr>
          <a:xfrm>
            <a:off x="6400800" y="1417320"/>
            <a:ext cx="640080" cy="640080"/>
          </a:xfrm>
          <a:prstGeom prst="ellipse">
            <a:avLst/>
          </a:prstGeom>
          <a:solidFill>
            <a:schemeClr val="accent3"/>
          </a:solidFill>
          <a:ln/>
        </p:spPr>
      </p:sp>
      <p:pic>
        <p:nvPicPr>
          <p:cNvPr id="15" name="detail 3 icon" descr="detail 3">    </p:cNvPr>
          <p:cNvPicPr>
            <a:picLocks noChangeAspect="1"/>
          </p:cNvPicPr>
          <p:nvPr/>
        </p:nvPicPr>
        <p:blipFill>
          <a:blip r:embed="rId3"/>
          <a:stretch>
            <a:fillRect/>
          </a:stretch>
        </p:blipFill>
        <p:spPr>
          <a:xfrm>
            <a:off x="6541618" y="1558138"/>
            <a:ext cx="358445" cy="358445"/>
          </a:xfrm>
          <a:prstGeom prst="rect">
            <a:avLst/>
          </a:prstGeom>
        </p:spPr>
      </p:pic>
      <p:sp>
        <p:nvSpPr>
          <p:cNvPr id="16" name="detail head 3"/>
          <p:cNvSpPr txBox="1"/>
          <p:nvPr/>
        </p:nvSpPr>
        <p:spPr>
          <a:xfrm>
            <a:off x="6400800" y="2194560"/>
            <a:ext cx="2103120" cy="365760"/>
          </a:xfrm>
          <a:prstGeom prst="rect">
            <a:avLst/>
          </a:prstGeom>
          <a:noFill/>
          <a:ln/>
        </p:spPr>
        <p:txBody>
          <a:bodyPr wrap="square" lIns="0" tIns="0" rIns="0" bIns="0" rtlCol="0" anchor="ctr"/>
          <a:lstStyle/>
          <a:p>
            <a:pPr indent="0" marL="0">
              <a:buNone/>
            </a:pPr>
            <a:r>
              <a:rPr lang="ko-KR" altLang="en-US" sz="1800" b="1" dirty="0">
                <a:solidFill>
                  <a:schemeClr val="tx1"/>
                </a:solidFill>
              </a:rPr>
              <a:t>문제가 생겨도 OK</a:t>
            </a:r>
            <a:endParaRPr lang="ko-KR" sz="1800" dirty="0"/>
          </a:p>
        </p:txBody>
      </p:sp>
      <p:sp>
        <p:nvSpPr>
          <p:cNvPr id="17" name="detail body 3"/>
          <p:cNvSpPr txBox="1"/>
          <p:nvPr/>
        </p:nvSpPr>
        <p:spPr>
          <a:xfrm>
            <a:off x="6400800" y="2606040"/>
            <a:ext cx="2103120" cy="1097280"/>
          </a:xfrm>
          <a:prstGeom prst="rect">
            <a:avLst/>
          </a:prstGeom>
          <a:noFill/>
          <a:ln/>
        </p:spPr>
        <p:txBody>
          <a:bodyPr wrap="square" lIns="0" tIns="0" rIns="0" bIns="0" rtlCol="0" anchor="t"/>
          <a:lstStyle/>
          <a:p>
            <a:pPr indent="0" marL="0">
              <a:buNone/>
            </a:pPr>
            <a:r>
              <a:rPr lang="ko-KR" altLang="en-US" sz="1400" dirty="0">
                <a:solidFill>
                  <a:schemeClr val="tx2"/>
                </a:solidFill>
              </a:rPr>
              <a:t>인터넷이 끊기면 앱이 멈추지 않고, 안내 문구와 '다시 시도' 버튼을 보여줘요</a:t>
            </a:r>
            <a:endParaRPr lang="ko-KR" sz="1400" dirty="0"/>
          </a:p>
        </p:txBody>
      </p:sp>
      <p:sp>
        <p:nvSpPr>
          <p:cNvPr id="18" name="swatch 1 circle"/>
          <p:cNvSpPr/>
          <p:nvPr/>
        </p:nvSpPr>
        <p:spPr>
          <a:xfrm>
            <a:off x="731520" y="3931920"/>
            <a:ext cx="402336" cy="402336"/>
          </a:xfrm>
          <a:prstGeom prst="ellipse">
            <a:avLst/>
          </a:prstGeom>
          <a:solidFill>
            <a:schemeClr val="accent2"/>
          </a:solidFill>
          <a:ln/>
        </p:spPr>
      </p:sp>
      <p:pic>
        <p:nvPicPr>
          <p:cNvPr id="19" name="swatch 1 icon" descr="swatch 1">    </p:cNvPr>
          <p:cNvPicPr>
            <a:picLocks noChangeAspect="1"/>
          </p:cNvPicPr>
          <p:nvPr/>
        </p:nvPicPr>
        <p:blipFill>
          <a:blip r:embed="rId4"/>
          <a:stretch>
            <a:fillRect/>
          </a:stretch>
        </p:blipFill>
        <p:spPr>
          <a:xfrm>
            <a:off x="820034" y="4020434"/>
            <a:ext cx="225308" cy="225308"/>
          </a:xfrm>
          <a:prstGeom prst="rect">
            <a:avLst/>
          </a:prstGeom>
        </p:spPr>
      </p:pic>
      <p:sp>
        <p:nvSpPr>
          <p:cNvPr id="20" name="swatch 2 circle"/>
          <p:cNvSpPr/>
          <p:nvPr/>
        </p:nvSpPr>
        <p:spPr>
          <a:xfrm>
            <a:off x="1252728" y="3931920"/>
            <a:ext cx="402336" cy="402336"/>
          </a:xfrm>
          <a:prstGeom prst="ellipse">
            <a:avLst/>
          </a:prstGeom>
          <a:solidFill>
            <a:schemeClr val="accent6"/>
          </a:solidFill>
          <a:ln/>
        </p:spPr>
      </p:sp>
      <p:pic>
        <p:nvPicPr>
          <p:cNvPr id="21" name="swatch 2 icon" descr="swatch 2">    </p:cNvPr>
          <p:cNvPicPr>
            <a:picLocks noChangeAspect="1"/>
          </p:cNvPicPr>
          <p:nvPr/>
        </p:nvPicPr>
        <p:blipFill>
          <a:blip r:embed="rId5"/>
          <a:stretch>
            <a:fillRect/>
          </a:stretch>
        </p:blipFill>
        <p:spPr>
          <a:xfrm>
            <a:off x="1341242" y="4020434"/>
            <a:ext cx="225308" cy="225308"/>
          </a:xfrm>
          <a:prstGeom prst="rect">
            <a:avLst/>
          </a:prstGeom>
        </p:spPr>
      </p:pic>
      <p:sp>
        <p:nvSpPr>
          <p:cNvPr id="22" name="swatch 3 circle"/>
          <p:cNvSpPr/>
          <p:nvPr/>
        </p:nvSpPr>
        <p:spPr>
          <a:xfrm>
            <a:off x="1773936" y="3931920"/>
            <a:ext cx="402336" cy="402336"/>
          </a:xfrm>
          <a:prstGeom prst="ellipse">
            <a:avLst/>
          </a:prstGeom>
          <a:solidFill>
            <a:schemeClr val="accent1"/>
          </a:solidFill>
          <a:ln/>
        </p:spPr>
      </p:sp>
      <p:pic>
        <p:nvPicPr>
          <p:cNvPr id="23" name="swatch 3 icon" descr="swatch 3">    </p:cNvPr>
          <p:cNvPicPr>
            <a:picLocks noChangeAspect="1"/>
          </p:cNvPicPr>
          <p:nvPr/>
        </p:nvPicPr>
        <p:blipFill>
          <a:blip r:embed="rId6"/>
          <a:stretch>
            <a:fillRect/>
          </a:stretch>
        </p:blipFill>
        <p:spPr>
          <a:xfrm>
            <a:off x="1862450" y="4020434"/>
            <a:ext cx="225308" cy="225308"/>
          </a:xfrm>
          <a:prstGeom prst="rect">
            <a:avLst/>
          </a:prstGeom>
        </p:spPr>
      </p:pic>
      <p:sp>
        <p:nvSpPr>
          <p:cNvPr id="24" name="swatch 4 circle"/>
          <p:cNvSpPr/>
          <p:nvPr/>
        </p:nvSpPr>
        <p:spPr>
          <a:xfrm>
            <a:off x="2295144" y="3931920"/>
            <a:ext cx="402336" cy="402336"/>
          </a:xfrm>
          <a:prstGeom prst="ellipse">
            <a:avLst/>
          </a:prstGeom>
          <a:solidFill>
            <a:schemeClr val="tx1"/>
          </a:solidFill>
          <a:ln/>
        </p:spPr>
      </p:sp>
      <p:pic>
        <p:nvPicPr>
          <p:cNvPr id="25" name="swatch 4 icon" descr="swatch 4">    </p:cNvPr>
          <p:cNvPicPr>
            <a:picLocks noChangeAspect="1"/>
          </p:cNvPicPr>
          <p:nvPr/>
        </p:nvPicPr>
        <p:blipFill>
          <a:blip r:embed="rId7"/>
          <a:stretch>
            <a:fillRect/>
          </a:stretch>
        </p:blipFill>
        <p:spPr>
          <a:xfrm>
            <a:off x="2383658" y="4020434"/>
            <a:ext cx="225308" cy="225308"/>
          </a:xfrm>
          <a:prstGeom prst="rect">
            <a:avLst/>
          </a:prstGeom>
        </p:spPr>
      </p:pic>
      <p:sp>
        <p:nvSpPr>
          <p:cNvPr id="26" name="city chip"/>
          <p:cNvSpPr/>
          <p:nvPr/>
        </p:nvSpPr>
        <p:spPr>
          <a:xfrm>
            <a:off x="3566160" y="3931920"/>
            <a:ext cx="1737360" cy="402336"/>
          </a:xfrm>
          <a:prstGeom prst="roundRect">
            <a:avLst>
              <a:gd name="adj" fmla="val 50000"/>
            </a:avLst>
          </a:prstGeom>
          <a:solidFill>
            <a:schemeClr val="bg1"/>
          </a:solidFill>
          <a:ln w="9525">
            <a:solidFill>
              <a:srgbClr val="8A9AB0"/>
            </a:solidFill>
            <a:prstDash val="solid"/>
          </a:ln>
        </p:spPr>
      </p:sp>
      <p:pic>
        <p:nvPicPr>
          <p:cNvPr id="27" name="city chip icon" descr="위치">    </p:cNvPr>
          <p:cNvPicPr>
            <a:picLocks noChangeAspect="1"/>
          </p:cNvPicPr>
          <p:nvPr/>
        </p:nvPicPr>
        <p:blipFill>
          <a:blip r:embed="rId8"/>
          <a:stretch>
            <a:fillRect/>
          </a:stretch>
        </p:blipFill>
        <p:spPr>
          <a:xfrm>
            <a:off x="3675888" y="4005072"/>
            <a:ext cx="256032" cy="256032"/>
          </a:xfrm>
          <a:prstGeom prst="rect">
            <a:avLst/>
          </a:prstGeom>
        </p:spPr>
      </p:pic>
      <p:sp>
        <p:nvSpPr>
          <p:cNvPr id="28" name="city chip text"/>
          <p:cNvSpPr txBox="1"/>
          <p:nvPr/>
        </p:nvSpPr>
        <p:spPr>
          <a:xfrm>
            <a:off x="3977640" y="3931920"/>
            <a:ext cx="1280160" cy="402336"/>
          </a:xfrm>
          <a:prstGeom prst="rect">
            <a:avLst/>
          </a:prstGeom>
          <a:noFill/>
          <a:ln/>
        </p:spPr>
        <p:txBody>
          <a:bodyPr wrap="square" lIns="0" tIns="0" rIns="0" bIns="0" rtlCol="0" anchor="ctr"/>
          <a:lstStyle/>
          <a:p>
            <a:pPr indent="0" marL="0">
              <a:buNone/>
            </a:pPr>
            <a:r>
              <a:rPr lang="ko-KR" altLang="en-US" sz="1200" dirty="0">
                <a:solidFill>
                  <a:schemeClr val="tx1"/>
                </a:solidFill>
              </a:rPr>
              <a:t>부산, 대한민국</a:t>
            </a:r>
            <a:endParaRPr lang="ko-KR" sz="1200" dirty="0"/>
          </a:p>
        </p:txBody>
      </p:sp>
      <p:sp>
        <p:nvSpPr>
          <p:cNvPr id="29" name="retry button"/>
          <p:cNvSpPr/>
          <p:nvPr/>
        </p:nvSpPr>
        <p:spPr>
          <a:xfrm>
            <a:off x="6400800" y="3931920"/>
            <a:ext cx="1463040" cy="402336"/>
          </a:xfrm>
          <a:prstGeom prst="roundRect">
            <a:avLst>
              <a:gd name="adj" fmla="val 50000"/>
            </a:avLst>
          </a:prstGeom>
          <a:solidFill>
            <a:schemeClr val="accent1"/>
          </a:solidFill>
          <a:ln/>
        </p:spPr>
      </p:sp>
      <p:pic>
        <p:nvPicPr>
          <p:cNvPr id="30" name="retry icon" descr="다시 시도">    </p:cNvPr>
          <p:cNvPicPr>
            <a:picLocks noChangeAspect="1"/>
          </p:cNvPicPr>
          <p:nvPr/>
        </p:nvPicPr>
        <p:blipFill>
          <a:blip r:embed="rId9"/>
          <a:stretch>
            <a:fillRect/>
          </a:stretch>
        </p:blipFill>
        <p:spPr>
          <a:xfrm>
            <a:off x="6528816" y="4005072"/>
            <a:ext cx="256032" cy="256032"/>
          </a:xfrm>
          <a:prstGeom prst="rect">
            <a:avLst/>
          </a:prstGeom>
        </p:spPr>
      </p:pic>
      <p:sp>
        <p:nvSpPr>
          <p:cNvPr id="31" name="retry text"/>
          <p:cNvSpPr txBox="1"/>
          <p:nvPr/>
        </p:nvSpPr>
        <p:spPr>
          <a:xfrm>
            <a:off x="6839712" y="3931920"/>
            <a:ext cx="960120" cy="402336"/>
          </a:xfrm>
          <a:prstGeom prst="rect">
            <a:avLst/>
          </a:prstGeom>
          <a:noFill/>
          <a:ln/>
        </p:spPr>
        <p:txBody>
          <a:bodyPr wrap="square" lIns="0" tIns="0" rIns="0" bIns="0" rtlCol="0" anchor="ctr"/>
          <a:lstStyle/>
          <a:p>
            <a:pPr indent="0" marL="0">
              <a:buNone/>
            </a:pPr>
            <a:r>
              <a:rPr lang="ko-KR" altLang="en-US" sz="1200" b="1" dirty="0">
                <a:solidFill>
                  <a:schemeClr val="bg1"/>
                </a:solidFill>
              </a:rPr>
              <a:t>다시 시도</a:t>
            </a:r>
            <a:endParaRPr lang="ko-KR"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Flutter: 한 번 만들면 어디서나</a:t>
            </a:r>
            <a:endParaRPr lang="en-US" sz="3400" dirty="0"/>
          </a:p>
        </p:txBody>
      </p:sp>
      <p:sp>
        <p:nvSpPr>
          <p:cNvPr id="3" name="flutter box"/>
          <p:cNvSpPr/>
          <p:nvPr/>
        </p:nvSpPr>
        <p:spPr>
          <a:xfrm>
            <a:off x="457200" y="1234440"/>
            <a:ext cx="3291840" cy="1325880"/>
          </a:xfrm>
          <a:prstGeom prst="roundRect">
            <a:avLst>
              <a:gd name="adj" fmla="val 10345"/>
            </a:avLst>
          </a:prstGeom>
          <a:solidFill>
            <a:schemeClr val="tx1"/>
          </a:solidFill>
          <a:ln/>
        </p:spPr>
      </p:sp>
      <p:sp>
        <p:nvSpPr>
          <p:cNvPr id="4" name="code circle"/>
          <p:cNvSpPr/>
          <p:nvPr/>
        </p:nvSpPr>
        <p:spPr>
          <a:xfrm>
            <a:off x="685800" y="1572768"/>
            <a:ext cx="640080" cy="640080"/>
          </a:xfrm>
          <a:prstGeom prst="ellipse">
            <a:avLst/>
          </a:prstGeom>
          <a:solidFill>
            <a:schemeClr val="accent1"/>
          </a:solidFill>
          <a:ln/>
        </p:spPr>
      </p:sp>
      <p:pic>
        <p:nvPicPr>
          <p:cNvPr id="5" name="code icon" descr="code">    </p:cNvPr>
          <p:cNvPicPr>
            <a:picLocks noChangeAspect="1"/>
          </p:cNvPicPr>
          <p:nvPr/>
        </p:nvPicPr>
        <p:blipFill>
          <a:blip r:embed="rId1"/>
          <a:stretch>
            <a:fillRect/>
          </a:stretch>
        </p:blipFill>
        <p:spPr>
          <a:xfrm>
            <a:off x="826618" y="1713586"/>
            <a:ext cx="358445" cy="358445"/>
          </a:xfrm>
          <a:prstGeom prst="rect">
            <a:avLst/>
          </a:prstGeom>
        </p:spPr>
      </p:pic>
      <p:sp>
        <p:nvSpPr>
          <p:cNvPr id="6" name="flutter name"/>
          <p:cNvSpPr txBox="1"/>
          <p:nvPr/>
        </p:nvSpPr>
        <p:spPr>
          <a:xfrm>
            <a:off x="1508760" y="1463040"/>
            <a:ext cx="2103120" cy="411480"/>
          </a:xfrm>
          <a:prstGeom prst="rect">
            <a:avLst/>
          </a:prstGeom>
          <a:noFill/>
          <a:ln/>
        </p:spPr>
        <p:txBody>
          <a:bodyPr wrap="square" lIns="0" tIns="0" rIns="0" bIns="0" rtlCol="0" anchor="ctr"/>
          <a:lstStyle/>
          <a:p>
            <a:pPr indent="0" marL="0">
              <a:buNone/>
            </a:pPr>
            <a:r>
              <a:rPr lang="ko-KR" altLang="en-US" sz="2000" b="1" dirty="0">
                <a:solidFill>
                  <a:schemeClr val="bg1"/>
                </a:solidFill>
              </a:rPr>
              <a:t>Flutter 코드</a:t>
            </a:r>
            <a:endParaRPr lang="ko-KR" sz="2000" dirty="0"/>
          </a:p>
        </p:txBody>
      </p:sp>
      <p:sp>
        <p:nvSpPr>
          <p:cNvPr id="7" name="flutter desc"/>
          <p:cNvSpPr txBox="1"/>
          <p:nvPr/>
        </p:nvSpPr>
        <p:spPr>
          <a:xfrm>
            <a:off x="1508760" y="1874520"/>
            <a:ext cx="2148840" cy="548640"/>
          </a:xfrm>
          <a:prstGeom prst="rect">
            <a:avLst/>
          </a:prstGeom>
          <a:noFill/>
          <a:ln/>
        </p:spPr>
        <p:txBody>
          <a:bodyPr wrap="square" lIns="0" tIns="0" rIns="0" bIns="0" rtlCol="0" anchor="ctr"/>
          <a:lstStyle/>
          <a:p>
            <a:pPr indent="0" marL="0">
              <a:buNone/>
            </a:pPr>
            <a:r>
              <a:rPr lang="ko-KR" altLang="en-US" sz="1200" dirty="0">
                <a:solidFill>
                  <a:schemeClr val="bg2"/>
                </a:solidFill>
              </a:rPr>
              <a:t>구글이 만든 앱 개발 도구</a:t>
            </a:r>
            <a:endParaRPr lang="ko-KR" sz="1200" dirty="0"/>
          </a:p>
          <a:p>
            <a:pPr indent="0" marL="0">
              <a:buNone/>
            </a:pPr>
            <a:r>
              <a:rPr lang="ko-KR" altLang="en-US" sz="1200" dirty="0">
                <a:solidFill>
                  <a:schemeClr val="bg2"/>
                </a:solidFill>
              </a:rPr>
              <a:t>(Dart라는 언어로 작성)</a:t>
            </a:r>
            <a:endParaRPr lang="ko-KR" sz="1200" dirty="0"/>
          </a:p>
        </p:txBody>
      </p:sp>
      <p:sp>
        <p:nvSpPr>
          <p:cNvPr id="8" name="arrow 1"/>
          <p:cNvSpPr/>
          <p:nvPr/>
        </p:nvSpPr>
        <p:spPr>
          <a:xfrm flipV="1">
            <a:off x="3749040" y="1280160"/>
            <a:ext cx="1051560" cy="617220"/>
          </a:xfrm>
          <a:prstGeom prst="line">
            <a:avLst/>
          </a:prstGeom>
          <a:noFill/>
          <a:ln w="15875">
            <a:solidFill>
              <a:srgbClr val="8A9AB0"/>
            </a:solidFill>
            <a:prstDash val="solid"/>
            <a:tailEnd type="triangle"/>
          </a:ln>
        </p:spPr>
      </p:sp>
      <p:sp>
        <p:nvSpPr>
          <p:cNvPr id="9" name="platform 1 circle"/>
          <p:cNvSpPr/>
          <p:nvPr/>
        </p:nvSpPr>
        <p:spPr>
          <a:xfrm>
            <a:off x="4846320" y="1106424"/>
            <a:ext cx="347472" cy="347472"/>
          </a:xfrm>
          <a:prstGeom prst="ellipse">
            <a:avLst/>
          </a:prstGeom>
          <a:solidFill>
            <a:schemeClr val="accent1"/>
          </a:solidFill>
          <a:ln/>
        </p:spPr>
      </p:sp>
      <p:pic>
        <p:nvPicPr>
          <p:cNvPr id="10" name="platform 1 icon" descr="platform 1">    </p:cNvPr>
          <p:cNvPicPr>
            <a:picLocks noChangeAspect="1"/>
          </p:cNvPicPr>
          <p:nvPr/>
        </p:nvPicPr>
        <p:blipFill>
          <a:blip r:embed="rId2"/>
          <a:stretch>
            <a:fillRect/>
          </a:stretch>
        </p:blipFill>
        <p:spPr>
          <a:xfrm>
            <a:off x="4922764" y="1182868"/>
            <a:ext cx="194584" cy="194584"/>
          </a:xfrm>
          <a:prstGeom prst="rect">
            <a:avLst/>
          </a:prstGeom>
        </p:spPr>
      </p:pic>
      <p:sp>
        <p:nvSpPr>
          <p:cNvPr id="11" name="platform label 1"/>
          <p:cNvSpPr txBox="1"/>
          <p:nvPr/>
        </p:nvSpPr>
        <p:spPr>
          <a:xfrm>
            <a:off x="5349240" y="1106424"/>
            <a:ext cx="3291840" cy="347472"/>
          </a:xfrm>
          <a:prstGeom prst="rect">
            <a:avLst/>
          </a:prstGeom>
          <a:noFill/>
          <a:ln/>
        </p:spPr>
        <p:txBody>
          <a:bodyPr wrap="square" lIns="0" tIns="0" rIns="0" bIns="0" rtlCol="0" anchor="ctr"/>
          <a:lstStyle/>
          <a:p>
            <a:pPr indent="0" marL="0">
              <a:buNone/>
            </a:pPr>
            <a:r>
              <a:rPr lang="ko-KR" altLang="en-US" sz="1500" dirty="0">
                <a:solidFill>
                  <a:schemeClr val="tx1"/>
                </a:solidFill>
              </a:rPr>
              <a:t>안드로이드 폰</a:t>
            </a:r>
            <a:endParaRPr lang="ko-KR" sz="1500" dirty="0"/>
          </a:p>
        </p:txBody>
      </p:sp>
      <p:sp>
        <p:nvSpPr>
          <p:cNvPr id="12" name="arrow 2"/>
          <p:cNvSpPr/>
          <p:nvPr/>
        </p:nvSpPr>
        <p:spPr>
          <a:xfrm flipV="1">
            <a:off x="3749040" y="1691640"/>
            <a:ext cx="1051560" cy="205740"/>
          </a:xfrm>
          <a:prstGeom prst="line">
            <a:avLst/>
          </a:prstGeom>
          <a:noFill/>
          <a:ln w="15875">
            <a:solidFill>
              <a:srgbClr val="8A9AB0"/>
            </a:solidFill>
            <a:prstDash val="solid"/>
            <a:tailEnd type="triangle"/>
          </a:ln>
        </p:spPr>
      </p:sp>
      <p:sp>
        <p:nvSpPr>
          <p:cNvPr id="13" name="platform 2 circle"/>
          <p:cNvSpPr/>
          <p:nvPr/>
        </p:nvSpPr>
        <p:spPr>
          <a:xfrm>
            <a:off x="4846320" y="1517904"/>
            <a:ext cx="347472" cy="347472"/>
          </a:xfrm>
          <a:prstGeom prst="ellipse">
            <a:avLst/>
          </a:prstGeom>
          <a:solidFill>
            <a:schemeClr val="accent1"/>
          </a:solidFill>
          <a:ln/>
        </p:spPr>
      </p:sp>
      <p:pic>
        <p:nvPicPr>
          <p:cNvPr id="14" name="platform 2 icon" descr="platform 2">    </p:cNvPr>
          <p:cNvPicPr>
            <a:picLocks noChangeAspect="1"/>
          </p:cNvPicPr>
          <p:nvPr/>
        </p:nvPicPr>
        <p:blipFill>
          <a:blip r:embed="rId3"/>
          <a:stretch>
            <a:fillRect/>
          </a:stretch>
        </p:blipFill>
        <p:spPr>
          <a:xfrm>
            <a:off x="4922764" y="1594348"/>
            <a:ext cx="194584" cy="194584"/>
          </a:xfrm>
          <a:prstGeom prst="rect">
            <a:avLst/>
          </a:prstGeom>
        </p:spPr>
      </p:pic>
      <p:sp>
        <p:nvSpPr>
          <p:cNvPr id="15" name="platform label 2"/>
          <p:cNvSpPr txBox="1"/>
          <p:nvPr/>
        </p:nvSpPr>
        <p:spPr>
          <a:xfrm>
            <a:off x="5349240" y="1517904"/>
            <a:ext cx="3291840" cy="347472"/>
          </a:xfrm>
          <a:prstGeom prst="rect">
            <a:avLst/>
          </a:prstGeom>
          <a:noFill/>
          <a:ln/>
        </p:spPr>
        <p:txBody>
          <a:bodyPr wrap="square" lIns="0" tIns="0" rIns="0" bIns="0" rtlCol="0" anchor="ctr"/>
          <a:lstStyle/>
          <a:p>
            <a:pPr indent="0" marL="0">
              <a:buNone/>
            </a:pPr>
            <a:r>
              <a:rPr lang="ko-KR" altLang="en-US" sz="1500" dirty="0">
                <a:solidFill>
                  <a:schemeClr val="tx1"/>
                </a:solidFill>
              </a:rPr>
              <a:t>아이폰</a:t>
            </a:r>
            <a:endParaRPr lang="ko-KR" sz="1500" dirty="0"/>
          </a:p>
        </p:txBody>
      </p:sp>
      <p:sp>
        <p:nvSpPr>
          <p:cNvPr id="16" name="arrow 3"/>
          <p:cNvSpPr/>
          <p:nvPr/>
        </p:nvSpPr>
        <p:spPr>
          <a:xfrm>
            <a:off x="3749040" y="1897380"/>
            <a:ext cx="1051560" cy="205740"/>
          </a:xfrm>
          <a:prstGeom prst="line">
            <a:avLst/>
          </a:prstGeom>
          <a:noFill/>
          <a:ln w="15875">
            <a:solidFill>
              <a:srgbClr val="8A9AB0"/>
            </a:solidFill>
            <a:prstDash val="solid"/>
            <a:tailEnd type="triangle"/>
          </a:ln>
        </p:spPr>
      </p:sp>
      <p:sp>
        <p:nvSpPr>
          <p:cNvPr id="17" name="platform 3 circle"/>
          <p:cNvSpPr/>
          <p:nvPr/>
        </p:nvSpPr>
        <p:spPr>
          <a:xfrm>
            <a:off x="4846320" y="1929384"/>
            <a:ext cx="347472" cy="347472"/>
          </a:xfrm>
          <a:prstGeom prst="ellipse">
            <a:avLst/>
          </a:prstGeom>
          <a:solidFill>
            <a:schemeClr val="accent1"/>
          </a:solidFill>
          <a:ln/>
        </p:spPr>
      </p:sp>
      <p:pic>
        <p:nvPicPr>
          <p:cNvPr id="18" name="platform 3 icon" descr="platform 3">    </p:cNvPr>
          <p:cNvPicPr>
            <a:picLocks noChangeAspect="1"/>
          </p:cNvPicPr>
          <p:nvPr/>
        </p:nvPicPr>
        <p:blipFill>
          <a:blip r:embed="rId4"/>
          <a:stretch>
            <a:fillRect/>
          </a:stretch>
        </p:blipFill>
        <p:spPr>
          <a:xfrm>
            <a:off x="4922764" y="2005828"/>
            <a:ext cx="194584" cy="194584"/>
          </a:xfrm>
          <a:prstGeom prst="rect">
            <a:avLst/>
          </a:prstGeom>
        </p:spPr>
      </p:pic>
      <p:sp>
        <p:nvSpPr>
          <p:cNvPr id="19" name="platform label 3"/>
          <p:cNvSpPr txBox="1"/>
          <p:nvPr/>
        </p:nvSpPr>
        <p:spPr>
          <a:xfrm>
            <a:off x="5349240" y="1929384"/>
            <a:ext cx="3291840" cy="347472"/>
          </a:xfrm>
          <a:prstGeom prst="rect">
            <a:avLst/>
          </a:prstGeom>
          <a:noFill/>
          <a:ln/>
        </p:spPr>
        <p:txBody>
          <a:bodyPr wrap="square" lIns="0" tIns="0" rIns="0" bIns="0" rtlCol="0" anchor="ctr"/>
          <a:lstStyle/>
          <a:p>
            <a:pPr indent="0" marL="0">
              <a:buNone/>
            </a:pPr>
            <a:r>
              <a:rPr lang="ko-KR" altLang="en-US" sz="1500" dirty="0">
                <a:solidFill>
                  <a:schemeClr val="tx1"/>
                </a:solidFill>
              </a:rPr>
              <a:t>웹 브라우저</a:t>
            </a:r>
            <a:endParaRPr lang="ko-KR" sz="1500" dirty="0"/>
          </a:p>
        </p:txBody>
      </p:sp>
      <p:sp>
        <p:nvSpPr>
          <p:cNvPr id="20" name="arrow 4"/>
          <p:cNvSpPr/>
          <p:nvPr/>
        </p:nvSpPr>
        <p:spPr>
          <a:xfrm>
            <a:off x="3749040" y="1897380"/>
            <a:ext cx="1051560" cy="617220"/>
          </a:xfrm>
          <a:prstGeom prst="line">
            <a:avLst/>
          </a:prstGeom>
          <a:noFill/>
          <a:ln w="15875">
            <a:solidFill>
              <a:srgbClr val="8A9AB0"/>
            </a:solidFill>
            <a:prstDash val="solid"/>
            <a:tailEnd type="triangle"/>
          </a:ln>
        </p:spPr>
      </p:sp>
      <p:sp>
        <p:nvSpPr>
          <p:cNvPr id="21" name="platform 4 circle"/>
          <p:cNvSpPr/>
          <p:nvPr/>
        </p:nvSpPr>
        <p:spPr>
          <a:xfrm>
            <a:off x="4846320" y="2340864"/>
            <a:ext cx="347472" cy="347472"/>
          </a:xfrm>
          <a:prstGeom prst="ellipse">
            <a:avLst/>
          </a:prstGeom>
          <a:solidFill>
            <a:schemeClr val="accent1"/>
          </a:solidFill>
          <a:ln/>
        </p:spPr>
      </p:sp>
      <p:pic>
        <p:nvPicPr>
          <p:cNvPr id="22" name="platform 4 icon" descr="platform 4">    </p:cNvPr>
          <p:cNvPicPr>
            <a:picLocks noChangeAspect="1"/>
          </p:cNvPicPr>
          <p:nvPr/>
        </p:nvPicPr>
        <p:blipFill>
          <a:blip r:embed="rId5"/>
          <a:stretch>
            <a:fillRect/>
          </a:stretch>
        </p:blipFill>
        <p:spPr>
          <a:xfrm>
            <a:off x="4922764" y="2417308"/>
            <a:ext cx="194584" cy="194584"/>
          </a:xfrm>
          <a:prstGeom prst="rect">
            <a:avLst/>
          </a:prstGeom>
        </p:spPr>
      </p:pic>
      <p:sp>
        <p:nvSpPr>
          <p:cNvPr id="23" name="platform label 4"/>
          <p:cNvSpPr txBox="1"/>
          <p:nvPr/>
        </p:nvSpPr>
        <p:spPr>
          <a:xfrm>
            <a:off x="5349240" y="2340864"/>
            <a:ext cx="3291840" cy="347472"/>
          </a:xfrm>
          <a:prstGeom prst="rect">
            <a:avLst/>
          </a:prstGeom>
          <a:noFill/>
          <a:ln/>
        </p:spPr>
        <p:txBody>
          <a:bodyPr wrap="square" lIns="0" tIns="0" rIns="0" bIns="0" rtlCol="0" anchor="ctr"/>
          <a:lstStyle/>
          <a:p>
            <a:pPr indent="0" marL="0">
              <a:buNone/>
            </a:pPr>
            <a:r>
              <a:rPr lang="ko-KR" altLang="en-US" sz="1500" dirty="0">
                <a:solidFill>
                  <a:schemeClr val="tx1"/>
                </a:solidFill>
              </a:rPr>
              <a:t>컴퓨터 (Windows · Mac · Linux)</a:t>
            </a:r>
            <a:endParaRPr lang="ko-KR" sz="1500" dirty="0"/>
          </a:p>
        </p:txBody>
      </p:sp>
      <p:sp>
        <p:nvSpPr>
          <p:cNvPr id="24" name="widget head"/>
          <p:cNvSpPr txBox="1"/>
          <p:nvPr/>
        </p:nvSpPr>
        <p:spPr>
          <a:xfrm>
            <a:off x="457200" y="2926080"/>
            <a:ext cx="8229600" cy="365760"/>
          </a:xfrm>
          <a:prstGeom prst="rect">
            <a:avLst/>
          </a:prstGeom>
          <a:noFill/>
          <a:ln/>
        </p:spPr>
        <p:txBody>
          <a:bodyPr wrap="square" lIns="0" tIns="0" rIns="0" bIns="0" rtlCol="0" anchor="ctr"/>
          <a:lstStyle/>
          <a:p>
            <a:pPr indent="0" marL="0">
              <a:buNone/>
            </a:pPr>
            <a:r>
              <a:rPr lang="ko-KR" altLang="en-US" sz="1800" b="1" dirty="0">
                <a:solidFill>
                  <a:schemeClr val="tx1"/>
                </a:solidFill>
              </a:rPr>
              <a:t>화면은 '위젯'이라는 블록을 쌓아서 만들어요</a:t>
            </a:r>
            <a:endParaRPr lang="ko-KR" sz="1800" dirty="0"/>
          </a:p>
        </p:txBody>
      </p:sp>
      <p:sp>
        <p:nvSpPr>
          <p:cNvPr id="25" name="block 1"/>
          <p:cNvSpPr/>
          <p:nvPr/>
        </p:nvSpPr>
        <p:spPr>
          <a:xfrm>
            <a:off x="457200" y="3429000"/>
            <a:ext cx="1600200" cy="731520"/>
          </a:xfrm>
          <a:prstGeom prst="roundRect">
            <a:avLst>
              <a:gd name="adj" fmla="val 12500"/>
            </a:avLst>
          </a:prstGeom>
          <a:solidFill>
            <a:schemeClr val="accent1"/>
          </a:solidFill>
          <a:ln/>
        </p:spPr>
      </p:sp>
      <p:sp>
        <p:nvSpPr>
          <p:cNvPr id="26" name="block text 1"/>
          <p:cNvSpPr txBox="1"/>
          <p:nvPr/>
        </p:nvSpPr>
        <p:spPr>
          <a:xfrm>
            <a:off x="457200" y="3429000"/>
            <a:ext cx="1600200" cy="731520"/>
          </a:xfrm>
          <a:prstGeom prst="rect">
            <a:avLst/>
          </a:prstGeom>
          <a:noFill/>
          <a:ln/>
        </p:spPr>
        <p:txBody>
          <a:bodyPr wrap="square" lIns="0" tIns="0" rIns="0" bIns="0" rtlCol="0" anchor="ctr"/>
          <a:lstStyle/>
          <a:p>
            <a:pPr algn="ctr" indent="0" marL="0">
              <a:buNone/>
            </a:pPr>
            <a:r>
              <a:rPr lang="ko-KR" altLang="en-US" sz="1500" b="1" dirty="0">
                <a:solidFill>
                  <a:schemeClr val="bg1"/>
                </a:solidFill>
              </a:rPr>
              <a:t>검색창</a:t>
            </a:r>
            <a:endParaRPr lang="ko-KR" sz="1500" dirty="0"/>
          </a:p>
        </p:txBody>
      </p:sp>
      <p:sp>
        <p:nvSpPr>
          <p:cNvPr id="27" name="block 2"/>
          <p:cNvSpPr/>
          <p:nvPr/>
        </p:nvSpPr>
        <p:spPr>
          <a:xfrm>
            <a:off x="2423160" y="3429000"/>
            <a:ext cx="1600200" cy="731520"/>
          </a:xfrm>
          <a:prstGeom prst="roundRect">
            <a:avLst>
              <a:gd name="adj" fmla="val 12500"/>
            </a:avLst>
          </a:prstGeom>
          <a:solidFill>
            <a:schemeClr val="accent2"/>
          </a:solidFill>
          <a:ln/>
        </p:spPr>
      </p:sp>
      <p:sp>
        <p:nvSpPr>
          <p:cNvPr id="28" name="block text 2"/>
          <p:cNvSpPr txBox="1"/>
          <p:nvPr/>
        </p:nvSpPr>
        <p:spPr>
          <a:xfrm>
            <a:off x="2423160" y="3429000"/>
            <a:ext cx="1600200" cy="731520"/>
          </a:xfrm>
          <a:prstGeom prst="rect">
            <a:avLst/>
          </a:prstGeom>
          <a:noFill/>
          <a:ln/>
        </p:spPr>
        <p:txBody>
          <a:bodyPr wrap="square" lIns="0" tIns="0" rIns="0" bIns="0" rtlCol="0" anchor="ctr"/>
          <a:lstStyle/>
          <a:p>
            <a:pPr algn="ctr" indent="0" marL="0">
              <a:buNone/>
            </a:pPr>
            <a:r>
              <a:rPr lang="ko-KR" altLang="en-US" sz="1500" b="1" dirty="0">
                <a:solidFill>
                  <a:schemeClr val="tx1"/>
                </a:solidFill>
              </a:rPr>
              <a:t>날씨 카드</a:t>
            </a:r>
            <a:endParaRPr lang="ko-KR" sz="1500" dirty="0"/>
          </a:p>
        </p:txBody>
      </p:sp>
      <p:sp>
        <p:nvSpPr>
          <p:cNvPr id="29" name="block 3"/>
          <p:cNvSpPr/>
          <p:nvPr/>
        </p:nvSpPr>
        <p:spPr>
          <a:xfrm>
            <a:off x="4389120" y="3429000"/>
            <a:ext cx="1600200" cy="731520"/>
          </a:xfrm>
          <a:prstGeom prst="roundRect">
            <a:avLst>
              <a:gd name="adj" fmla="val 12500"/>
            </a:avLst>
          </a:prstGeom>
          <a:solidFill>
            <a:schemeClr val="accent4"/>
          </a:solidFill>
          <a:ln/>
        </p:spPr>
      </p:sp>
      <p:sp>
        <p:nvSpPr>
          <p:cNvPr id="30" name="block text 3"/>
          <p:cNvSpPr txBox="1"/>
          <p:nvPr/>
        </p:nvSpPr>
        <p:spPr>
          <a:xfrm>
            <a:off x="4389120" y="3429000"/>
            <a:ext cx="1600200" cy="731520"/>
          </a:xfrm>
          <a:prstGeom prst="rect">
            <a:avLst/>
          </a:prstGeom>
          <a:noFill/>
          <a:ln/>
        </p:spPr>
        <p:txBody>
          <a:bodyPr wrap="square" lIns="0" tIns="0" rIns="0" bIns="0" rtlCol="0" anchor="ctr"/>
          <a:lstStyle/>
          <a:p>
            <a:pPr algn="ctr" indent="0" marL="0">
              <a:buNone/>
            </a:pPr>
            <a:r>
              <a:rPr lang="ko-KR" altLang="en-US" sz="1500" b="1" dirty="0">
                <a:solidFill>
                  <a:schemeClr val="tx1"/>
                </a:solidFill>
              </a:rPr>
              <a:t>예보 목록</a:t>
            </a:r>
            <a:endParaRPr lang="ko-KR" sz="1500" dirty="0"/>
          </a:p>
        </p:txBody>
      </p:sp>
      <p:sp>
        <p:nvSpPr>
          <p:cNvPr id="31" name="plus 1"/>
          <p:cNvSpPr txBox="1"/>
          <p:nvPr/>
        </p:nvSpPr>
        <p:spPr>
          <a:xfrm>
            <a:off x="2057400" y="3429000"/>
            <a:ext cx="365760" cy="731520"/>
          </a:xfrm>
          <a:prstGeom prst="rect">
            <a:avLst/>
          </a:prstGeom>
          <a:noFill/>
          <a:ln/>
        </p:spPr>
        <p:txBody>
          <a:bodyPr wrap="square" lIns="0" tIns="0" rIns="0" bIns="0" rtlCol="0" anchor="ctr"/>
          <a:lstStyle/>
          <a:p>
            <a:pPr algn="ctr" indent="0" marL="0">
              <a:buNone/>
            </a:pPr>
            <a:r>
              <a:rPr lang="ko-KR" altLang="en-US" sz="2200" b="1" dirty="0">
                <a:solidFill>
                  <a:schemeClr val="tx2"/>
                </a:solidFill>
              </a:rPr>
              <a:t>+</a:t>
            </a:r>
            <a:endParaRPr lang="ko-KR" sz="2200" dirty="0"/>
          </a:p>
        </p:txBody>
      </p:sp>
      <p:sp>
        <p:nvSpPr>
          <p:cNvPr id="32" name="plus 2"/>
          <p:cNvSpPr txBox="1"/>
          <p:nvPr/>
        </p:nvSpPr>
        <p:spPr>
          <a:xfrm>
            <a:off x="4023360" y="3429000"/>
            <a:ext cx="365760" cy="731520"/>
          </a:xfrm>
          <a:prstGeom prst="rect">
            <a:avLst/>
          </a:prstGeom>
          <a:noFill/>
          <a:ln/>
        </p:spPr>
        <p:txBody>
          <a:bodyPr wrap="square" lIns="0" tIns="0" rIns="0" bIns="0" rtlCol="0" anchor="ctr"/>
          <a:lstStyle/>
          <a:p>
            <a:pPr algn="ctr" indent="0" marL="0">
              <a:buNone/>
            </a:pPr>
            <a:r>
              <a:rPr lang="ko-KR" altLang="en-US" sz="2200" b="1" dirty="0">
                <a:solidFill>
                  <a:schemeClr val="tx2"/>
                </a:solidFill>
              </a:rPr>
              <a:t>+</a:t>
            </a:r>
            <a:endParaRPr lang="ko-KR" sz="2200" dirty="0"/>
          </a:p>
        </p:txBody>
      </p:sp>
      <p:sp>
        <p:nvSpPr>
          <p:cNvPr id="33" name="equals"/>
          <p:cNvSpPr txBox="1"/>
          <p:nvPr/>
        </p:nvSpPr>
        <p:spPr>
          <a:xfrm>
            <a:off x="5989320" y="3429000"/>
            <a:ext cx="365760" cy="731520"/>
          </a:xfrm>
          <a:prstGeom prst="rect">
            <a:avLst/>
          </a:prstGeom>
          <a:noFill/>
          <a:ln/>
        </p:spPr>
        <p:txBody>
          <a:bodyPr wrap="square" lIns="0" tIns="0" rIns="0" bIns="0" rtlCol="0" anchor="ctr"/>
          <a:lstStyle/>
          <a:p>
            <a:pPr algn="ctr" indent="0" marL="0">
              <a:buNone/>
            </a:pPr>
            <a:r>
              <a:rPr lang="ko-KR" altLang="en-US" sz="2200" b="1" dirty="0">
                <a:solidFill>
                  <a:schemeClr val="tx2"/>
                </a:solidFill>
              </a:rPr>
              <a:t>=</a:t>
            </a:r>
            <a:endParaRPr lang="ko-KR" sz="2200" dirty="0"/>
          </a:p>
        </p:txBody>
      </p:sp>
      <p:sp>
        <p:nvSpPr>
          <p:cNvPr id="34" name="result block"/>
          <p:cNvSpPr/>
          <p:nvPr/>
        </p:nvSpPr>
        <p:spPr>
          <a:xfrm>
            <a:off x="6355080" y="3429000"/>
            <a:ext cx="2331720" cy="731520"/>
          </a:xfrm>
          <a:prstGeom prst="roundRect">
            <a:avLst>
              <a:gd name="adj" fmla="val 12500"/>
            </a:avLst>
          </a:prstGeom>
          <a:solidFill>
            <a:schemeClr val="tx1"/>
          </a:solidFill>
          <a:ln/>
        </p:spPr>
      </p:sp>
      <p:sp>
        <p:nvSpPr>
          <p:cNvPr id="35" name="result text"/>
          <p:cNvSpPr txBox="1"/>
          <p:nvPr/>
        </p:nvSpPr>
        <p:spPr>
          <a:xfrm>
            <a:off x="6355080" y="3429000"/>
            <a:ext cx="2331720" cy="731520"/>
          </a:xfrm>
          <a:prstGeom prst="rect">
            <a:avLst/>
          </a:prstGeom>
          <a:noFill/>
          <a:ln/>
        </p:spPr>
        <p:txBody>
          <a:bodyPr wrap="square" lIns="0" tIns="0" rIns="0" bIns="0" rtlCol="0" anchor="ctr"/>
          <a:lstStyle/>
          <a:p>
            <a:pPr algn="ctr" indent="0" marL="0">
              <a:buNone/>
            </a:pPr>
            <a:r>
              <a:rPr lang="ko-KR" altLang="en-US" sz="1500" b="1" dirty="0">
                <a:solidFill>
                  <a:schemeClr val="bg1"/>
                </a:solidFill>
              </a:rPr>
              <a:t>WeatherApp 화면</a:t>
            </a:r>
            <a:endParaRPr lang="ko-KR" sz="1500" dirty="0"/>
          </a:p>
        </p:txBody>
      </p:sp>
      <p:sp>
        <p:nvSpPr>
          <p:cNvPr id="36" name="widget caption"/>
          <p:cNvSpPr txBox="1"/>
          <p:nvPr/>
        </p:nvSpPr>
        <p:spPr>
          <a:xfrm>
            <a:off x="457200" y="4297680"/>
            <a:ext cx="7680960" cy="320040"/>
          </a:xfrm>
          <a:prstGeom prst="rect">
            <a:avLst/>
          </a:prstGeom>
          <a:noFill/>
          <a:ln/>
        </p:spPr>
        <p:txBody>
          <a:bodyPr wrap="square" lIns="0" tIns="0" rIns="0" bIns="0" rtlCol="0" anchor="ctr"/>
          <a:lstStyle/>
          <a:p>
            <a:pPr indent="0" marL="0">
              <a:buNone/>
            </a:pPr>
            <a:r>
              <a:rPr lang="ko-KR" altLang="en-US" sz="1200" dirty="0">
                <a:solidFill>
                  <a:schemeClr val="tx2"/>
                </a:solidFill>
              </a:rPr>
              <a:t>이 앱은 직접 만든 위젯 11개를 레고처럼 조립해서 화면을 완성했어요</a:t>
            </a:r>
            <a:endParaRPr lang="ko-KR"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날씨 정보는 어디서 올까?</a:t>
            </a:r>
            <a:endParaRPr lang="en-US" sz="3400" dirty="0"/>
          </a:p>
        </p:txBody>
      </p:sp>
      <p:sp>
        <p:nvSpPr>
          <p:cNvPr id="3" name="api lead"/>
          <p:cNvSpPr txBox="1"/>
          <p:nvPr/>
        </p:nvSpPr>
        <p:spPr>
          <a:xfrm>
            <a:off x="457200" y="1097280"/>
            <a:ext cx="8229600" cy="411480"/>
          </a:xfrm>
          <a:prstGeom prst="rect">
            <a:avLst/>
          </a:prstGeom>
          <a:noFill/>
          <a:ln/>
        </p:spPr>
        <p:txBody>
          <a:bodyPr wrap="square" lIns="0" tIns="0" rIns="0" bIns="0" rtlCol="0" anchor="ctr"/>
          <a:lstStyle/>
          <a:p>
            <a:pPr indent="0" marL="0">
              <a:buNone/>
            </a:pPr>
            <a:r>
              <a:rPr lang="ko-KR" altLang="en-US" sz="1500" b="1" dirty="0">
                <a:solidFill>
                  <a:schemeClr val="accent1"/>
                </a:solidFill>
              </a:rPr>
              <a:t>API</a:t>
            </a:r>
            <a:pPr indent="0" marL="0">
              <a:buNone/>
            </a:pPr>
            <a:r>
              <a:rPr lang="ko-KR" altLang="en-US" sz="1500" dirty="0">
                <a:solidFill>
                  <a:schemeClr val="tx2"/>
                </a:solidFill>
              </a:rPr>
              <a:t> = 앱이 다른 서버에게 질문하고 답을 받아오는 창구 (식당의 주문 창구처럼)</a:t>
            </a:r>
            <a:endParaRPr lang="ko-KR" sz="1500" dirty="0"/>
          </a:p>
        </p:txBody>
      </p:sp>
      <p:sp>
        <p:nvSpPr>
          <p:cNvPr id="4" name="step 1 circle"/>
          <p:cNvSpPr/>
          <p:nvPr/>
        </p:nvSpPr>
        <p:spPr>
          <a:xfrm>
            <a:off x="1069848" y="1691640"/>
            <a:ext cx="603504" cy="603504"/>
          </a:xfrm>
          <a:prstGeom prst="ellipse">
            <a:avLst/>
          </a:prstGeom>
          <a:solidFill>
            <a:schemeClr val="accent1"/>
          </a:solidFill>
          <a:ln/>
        </p:spPr>
      </p:sp>
      <p:pic>
        <p:nvPicPr>
          <p:cNvPr id="5" name="step 1 icon" descr="step 1">    </p:cNvPr>
          <p:cNvPicPr>
            <a:picLocks noChangeAspect="1"/>
          </p:cNvPicPr>
          <p:nvPr/>
        </p:nvPicPr>
        <p:blipFill>
          <a:blip r:embed="rId1"/>
          <a:stretch>
            <a:fillRect/>
          </a:stretch>
        </p:blipFill>
        <p:spPr>
          <a:xfrm>
            <a:off x="1202619" y="1824411"/>
            <a:ext cx="337962" cy="337962"/>
          </a:xfrm>
          <a:prstGeom prst="rect">
            <a:avLst/>
          </a:prstGeom>
        </p:spPr>
      </p:pic>
      <p:sp>
        <p:nvSpPr>
          <p:cNvPr id="6" name="step arrow 1"/>
          <p:cNvSpPr/>
          <p:nvPr/>
        </p:nvSpPr>
        <p:spPr>
          <a:xfrm>
            <a:off x="1783080" y="1993392"/>
            <a:ext cx="1280160" cy="0"/>
          </a:xfrm>
          <a:prstGeom prst="line">
            <a:avLst/>
          </a:prstGeom>
          <a:noFill/>
          <a:ln w="19050">
            <a:solidFill>
              <a:srgbClr val="8A9AB0"/>
            </a:solidFill>
            <a:prstDash val="solid"/>
            <a:tailEnd type="triangle"/>
          </a:ln>
        </p:spPr>
      </p:sp>
      <p:sp>
        <p:nvSpPr>
          <p:cNvPr id="7" name="step head 1"/>
          <p:cNvSpPr txBox="1"/>
          <p:nvPr/>
        </p:nvSpPr>
        <p:spPr>
          <a:xfrm>
            <a:off x="457200" y="2395728"/>
            <a:ext cx="1828800" cy="320040"/>
          </a:xfrm>
          <a:prstGeom prst="rect">
            <a:avLst/>
          </a:prstGeom>
          <a:noFill/>
          <a:ln/>
        </p:spPr>
        <p:txBody>
          <a:bodyPr wrap="square" lIns="0" tIns="0" rIns="0" bIns="0" rtlCol="0" anchor="ctr"/>
          <a:lstStyle/>
          <a:p>
            <a:pPr algn="ctr" indent="0" marL="0">
              <a:buNone/>
            </a:pPr>
            <a:r>
              <a:rPr lang="ko-KR" altLang="en-US" sz="1500" b="1" dirty="0">
                <a:solidFill>
                  <a:schemeClr val="tx1"/>
                </a:solidFill>
              </a:rPr>
              <a:t>1. 검색</a:t>
            </a:r>
            <a:endParaRPr lang="ko-KR" sz="1500" dirty="0"/>
          </a:p>
        </p:txBody>
      </p:sp>
      <p:sp>
        <p:nvSpPr>
          <p:cNvPr id="8" name="step body 1"/>
          <p:cNvSpPr txBox="1"/>
          <p:nvPr/>
        </p:nvSpPr>
        <p:spPr>
          <a:xfrm>
            <a:off x="365760" y="2724912"/>
            <a:ext cx="2011680" cy="640080"/>
          </a:xfrm>
          <a:prstGeom prst="rect">
            <a:avLst/>
          </a:prstGeom>
          <a:noFill/>
          <a:ln/>
        </p:spPr>
        <p:txBody>
          <a:bodyPr wrap="square" lIns="0" tIns="0" rIns="0" bIns="0" rtlCol="0" anchor="t"/>
          <a:lstStyle/>
          <a:p>
            <a:pPr algn="ctr" indent="0" marL="0">
              <a:buNone/>
            </a:pPr>
            <a:r>
              <a:rPr lang="ko-KR" altLang="en-US" sz="1300" dirty="0">
                <a:solidFill>
                  <a:schemeClr val="tx2"/>
                </a:solidFill>
              </a:rPr>
              <a:t>내가 '서울'을</a:t>
            </a:r>
            <a:endParaRPr lang="ko-KR" sz="1300" dirty="0"/>
          </a:p>
          <a:p>
            <a:pPr algn="ctr" indent="0" marL="0">
              <a:buNone/>
            </a:pPr>
            <a:r>
              <a:rPr lang="ko-KR" altLang="en-US" sz="1300" dirty="0">
                <a:solidFill>
                  <a:schemeClr val="tx2"/>
                </a:solidFill>
              </a:rPr>
              <a:t>입력해요</a:t>
            </a:r>
            <a:endParaRPr lang="ko-KR" sz="1300" dirty="0"/>
          </a:p>
        </p:txBody>
      </p:sp>
      <p:sp>
        <p:nvSpPr>
          <p:cNvPr id="9" name="step 2 circle"/>
          <p:cNvSpPr/>
          <p:nvPr/>
        </p:nvSpPr>
        <p:spPr>
          <a:xfrm>
            <a:off x="3172968" y="1691640"/>
            <a:ext cx="603504" cy="603504"/>
          </a:xfrm>
          <a:prstGeom prst="ellipse">
            <a:avLst/>
          </a:prstGeom>
          <a:solidFill>
            <a:schemeClr val="accent1"/>
          </a:solidFill>
          <a:ln/>
        </p:spPr>
      </p:sp>
      <p:pic>
        <p:nvPicPr>
          <p:cNvPr id="10" name="step 2 icon" descr="step 2">    </p:cNvPr>
          <p:cNvPicPr>
            <a:picLocks noChangeAspect="1"/>
          </p:cNvPicPr>
          <p:nvPr/>
        </p:nvPicPr>
        <p:blipFill>
          <a:blip r:embed="rId2"/>
          <a:stretch>
            <a:fillRect/>
          </a:stretch>
        </p:blipFill>
        <p:spPr>
          <a:xfrm>
            <a:off x="3305739" y="1824411"/>
            <a:ext cx="337962" cy="337962"/>
          </a:xfrm>
          <a:prstGeom prst="rect">
            <a:avLst/>
          </a:prstGeom>
        </p:spPr>
      </p:pic>
      <p:sp>
        <p:nvSpPr>
          <p:cNvPr id="11" name="step arrow 2"/>
          <p:cNvSpPr/>
          <p:nvPr/>
        </p:nvSpPr>
        <p:spPr>
          <a:xfrm>
            <a:off x="3886200" y="1993392"/>
            <a:ext cx="1280160" cy="0"/>
          </a:xfrm>
          <a:prstGeom prst="line">
            <a:avLst/>
          </a:prstGeom>
          <a:noFill/>
          <a:ln w="19050">
            <a:solidFill>
              <a:srgbClr val="8A9AB0"/>
            </a:solidFill>
            <a:prstDash val="solid"/>
            <a:tailEnd type="triangle"/>
          </a:ln>
        </p:spPr>
      </p:sp>
      <p:sp>
        <p:nvSpPr>
          <p:cNvPr id="12" name="step head 2"/>
          <p:cNvSpPr txBox="1"/>
          <p:nvPr/>
        </p:nvSpPr>
        <p:spPr>
          <a:xfrm>
            <a:off x="2560320" y="2395728"/>
            <a:ext cx="1828800" cy="320040"/>
          </a:xfrm>
          <a:prstGeom prst="rect">
            <a:avLst/>
          </a:prstGeom>
          <a:noFill/>
          <a:ln/>
        </p:spPr>
        <p:txBody>
          <a:bodyPr wrap="square" lIns="0" tIns="0" rIns="0" bIns="0" rtlCol="0" anchor="ctr"/>
          <a:lstStyle/>
          <a:p>
            <a:pPr algn="ctr" indent="0" marL="0">
              <a:buNone/>
            </a:pPr>
            <a:r>
              <a:rPr lang="ko-KR" altLang="en-US" sz="1500" b="1" dirty="0">
                <a:solidFill>
                  <a:schemeClr val="tx1"/>
                </a:solidFill>
              </a:rPr>
              <a:t>2. 위치 찾기</a:t>
            </a:r>
            <a:endParaRPr lang="ko-KR" sz="1500" dirty="0"/>
          </a:p>
        </p:txBody>
      </p:sp>
      <p:sp>
        <p:nvSpPr>
          <p:cNvPr id="13" name="step body 2"/>
          <p:cNvSpPr txBox="1"/>
          <p:nvPr/>
        </p:nvSpPr>
        <p:spPr>
          <a:xfrm>
            <a:off x="2468880" y="2724912"/>
            <a:ext cx="2011680" cy="640080"/>
          </a:xfrm>
          <a:prstGeom prst="rect">
            <a:avLst/>
          </a:prstGeom>
          <a:noFill/>
          <a:ln/>
        </p:spPr>
        <p:txBody>
          <a:bodyPr wrap="square" lIns="0" tIns="0" rIns="0" bIns="0" rtlCol="0" anchor="t"/>
          <a:lstStyle/>
          <a:p>
            <a:pPr algn="ctr" indent="0" marL="0">
              <a:buNone/>
            </a:pPr>
            <a:r>
              <a:rPr lang="ko-KR" altLang="en-US" sz="1300" dirty="0">
                <a:solidFill>
                  <a:schemeClr val="tx2"/>
                </a:solidFill>
              </a:rPr>
              <a:t>지도 서버가 서울의</a:t>
            </a:r>
            <a:endParaRPr lang="ko-KR" sz="1300" dirty="0"/>
          </a:p>
          <a:p>
            <a:pPr algn="ctr" indent="0" marL="0">
              <a:buNone/>
            </a:pPr>
            <a:r>
              <a:rPr lang="ko-KR" altLang="en-US" sz="1300" dirty="0">
                <a:solidFill>
                  <a:schemeClr val="tx2"/>
                </a:solidFill>
              </a:rPr>
              <a:t>좌표를 알려줘요</a:t>
            </a:r>
            <a:endParaRPr lang="ko-KR" sz="1300" dirty="0"/>
          </a:p>
        </p:txBody>
      </p:sp>
      <p:sp>
        <p:nvSpPr>
          <p:cNvPr id="14" name="step 3 circle"/>
          <p:cNvSpPr/>
          <p:nvPr/>
        </p:nvSpPr>
        <p:spPr>
          <a:xfrm>
            <a:off x="5276088" y="1691640"/>
            <a:ext cx="603504" cy="603504"/>
          </a:xfrm>
          <a:prstGeom prst="ellipse">
            <a:avLst/>
          </a:prstGeom>
          <a:solidFill>
            <a:schemeClr val="accent1"/>
          </a:solidFill>
          <a:ln/>
        </p:spPr>
      </p:sp>
      <p:pic>
        <p:nvPicPr>
          <p:cNvPr id="15" name="step 3 icon" descr="step 3">    </p:cNvPr>
          <p:cNvPicPr>
            <a:picLocks noChangeAspect="1"/>
          </p:cNvPicPr>
          <p:nvPr/>
        </p:nvPicPr>
        <p:blipFill>
          <a:blip r:embed="rId3"/>
          <a:stretch>
            <a:fillRect/>
          </a:stretch>
        </p:blipFill>
        <p:spPr>
          <a:xfrm>
            <a:off x="5408859" y="1824411"/>
            <a:ext cx="337962" cy="337962"/>
          </a:xfrm>
          <a:prstGeom prst="rect">
            <a:avLst/>
          </a:prstGeom>
        </p:spPr>
      </p:pic>
      <p:sp>
        <p:nvSpPr>
          <p:cNvPr id="16" name="step arrow 3"/>
          <p:cNvSpPr/>
          <p:nvPr/>
        </p:nvSpPr>
        <p:spPr>
          <a:xfrm>
            <a:off x="5989320" y="1993392"/>
            <a:ext cx="1280160" cy="0"/>
          </a:xfrm>
          <a:prstGeom prst="line">
            <a:avLst/>
          </a:prstGeom>
          <a:noFill/>
          <a:ln w="19050">
            <a:solidFill>
              <a:srgbClr val="8A9AB0"/>
            </a:solidFill>
            <a:prstDash val="solid"/>
            <a:tailEnd type="triangle"/>
          </a:ln>
        </p:spPr>
      </p:sp>
      <p:sp>
        <p:nvSpPr>
          <p:cNvPr id="17" name="step head 3"/>
          <p:cNvSpPr txBox="1"/>
          <p:nvPr/>
        </p:nvSpPr>
        <p:spPr>
          <a:xfrm>
            <a:off x="4663440" y="2395728"/>
            <a:ext cx="1828800" cy="320040"/>
          </a:xfrm>
          <a:prstGeom prst="rect">
            <a:avLst/>
          </a:prstGeom>
          <a:noFill/>
          <a:ln/>
        </p:spPr>
        <p:txBody>
          <a:bodyPr wrap="square" lIns="0" tIns="0" rIns="0" bIns="0" rtlCol="0" anchor="ctr"/>
          <a:lstStyle/>
          <a:p>
            <a:pPr algn="ctr" indent="0" marL="0">
              <a:buNone/>
            </a:pPr>
            <a:r>
              <a:rPr lang="ko-KR" altLang="en-US" sz="1500" b="1" dirty="0">
                <a:solidFill>
                  <a:schemeClr val="tx1"/>
                </a:solidFill>
              </a:rPr>
              <a:t>3. 날씨 받기</a:t>
            </a:r>
            <a:endParaRPr lang="ko-KR" sz="1500" dirty="0"/>
          </a:p>
        </p:txBody>
      </p:sp>
      <p:sp>
        <p:nvSpPr>
          <p:cNvPr id="18" name="step body 3"/>
          <p:cNvSpPr txBox="1"/>
          <p:nvPr/>
        </p:nvSpPr>
        <p:spPr>
          <a:xfrm>
            <a:off x="4572000" y="2724912"/>
            <a:ext cx="2011680" cy="640080"/>
          </a:xfrm>
          <a:prstGeom prst="rect">
            <a:avLst/>
          </a:prstGeom>
          <a:noFill/>
          <a:ln/>
        </p:spPr>
        <p:txBody>
          <a:bodyPr wrap="square" lIns="0" tIns="0" rIns="0" bIns="0" rtlCol="0" anchor="t"/>
          <a:lstStyle/>
          <a:p>
            <a:pPr algn="ctr" indent="0" marL="0">
              <a:buNone/>
            </a:pPr>
            <a:r>
              <a:rPr lang="ko-KR" altLang="en-US" sz="1300" dirty="0">
                <a:solidFill>
                  <a:schemeClr val="tx2"/>
                </a:solidFill>
              </a:rPr>
              <a:t>날씨 서버가 그 좌표의</a:t>
            </a:r>
            <a:endParaRPr lang="ko-KR" sz="1300" dirty="0"/>
          </a:p>
          <a:p>
            <a:pPr algn="ctr" indent="0" marL="0">
              <a:buNone/>
            </a:pPr>
            <a:r>
              <a:rPr lang="ko-KR" altLang="en-US" sz="1300" dirty="0">
                <a:solidFill>
                  <a:schemeClr val="tx2"/>
                </a:solidFill>
              </a:rPr>
              <a:t>날씨를 숫자로 보내요</a:t>
            </a:r>
            <a:endParaRPr lang="ko-KR" sz="1300" dirty="0"/>
          </a:p>
        </p:txBody>
      </p:sp>
      <p:sp>
        <p:nvSpPr>
          <p:cNvPr id="19" name="step 4 circle"/>
          <p:cNvSpPr/>
          <p:nvPr/>
        </p:nvSpPr>
        <p:spPr>
          <a:xfrm>
            <a:off x="7379208" y="1691640"/>
            <a:ext cx="603504" cy="603504"/>
          </a:xfrm>
          <a:prstGeom prst="ellipse">
            <a:avLst/>
          </a:prstGeom>
          <a:solidFill>
            <a:schemeClr val="tx1"/>
          </a:solidFill>
          <a:ln/>
        </p:spPr>
      </p:sp>
      <p:pic>
        <p:nvPicPr>
          <p:cNvPr id="20" name="step 4 icon" descr="step 4">    </p:cNvPr>
          <p:cNvPicPr>
            <a:picLocks noChangeAspect="1"/>
          </p:cNvPicPr>
          <p:nvPr/>
        </p:nvPicPr>
        <p:blipFill>
          <a:blip r:embed="rId4"/>
          <a:stretch>
            <a:fillRect/>
          </a:stretch>
        </p:blipFill>
        <p:spPr>
          <a:xfrm>
            <a:off x="7511979" y="1824411"/>
            <a:ext cx="337962" cy="337962"/>
          </a:xfrm>
          <a:prstGeom prst="rect">
            <a:avLst/>
          </a:prstGeom>
        </p:spPr>
      </p:pic>
      <p:sp>
        <p:nvSpPr>
          <p:cNvPr id="21" name="step head 4"/>
          <p:cNvSpPr txBox="1"/>
          <p:nvPr/>
        </p:nvSpPr>
        <p:spPr>
          <a:xfrm>
            <a:off x="6766560" y="2395728"/>
            <a:ext cx="1828800" cy="320040"/>
          </a:xfrm>
          <a:prstGeom prst="rect">
            <a:avLst/>
          </a:prstGeom>
          <a:noFill/>
          <a:ln/>
        </p:spPr>
        <p:txBody>
          <a:bodyPr wrap="square" lIns="0" tIns="0" rIns="0" bIns="0" rtlCol="0" anchor="ctr"/>
          <a:lstStyle/>
          <a:p>
            <a:pPr algn="ctr" indent="0" marL="0">
              <a:buNone/>
            </a:pPr>
            <a:r>
              <a:rPr lang="ko-KR" altLang="en-US" sz="1500" b="1" dirty="0">
                <a:solidFill>
                  <a:schemeClr val="tx1"/>
                </a:solidFill>
              </a:rPr>
              <a:t>4. 화면에 표시</a:t>
            </a:r>
            <a:endParaRPr lang="ko-KR" sz="1500" dirty="0"/>
          </a:p>
        </p:txBody>
      </p:sp>
      <p:sp>
        <p:nvSpPr>
          <p:cNvPr id="22" name="step body 4"/>
          <p:cNvSpPr txBox="1"/>
          <p:nvPr/>
        </p:nvSpPr>
        <p:spPr>
          <a:xfrm>
            <a:off x="6675120" y="2724912"/>
            <a:ext cx="2011680" cy="640080"/>
          </a:xfrm>
          <a:prstGeom prst="rect">
            <a:avLst/>
          </a:prstGeom>
          <a:noFill/>
          <a:ln/>
        </p:spPr>
        <p:txBody>
          <a:bodyPr wrap="square" lIns="0" tIns="0" rIns="0" bIns="0" rtlCol="0" anchor="t"/>
          <a:lstStyle/>
          <a:p>
            <a:pPr algn="ctr" indent="0" marL="0">
              <a:buNone/>
            </a:pPr>
            <a:r>
              <a:rPr lang="ko-KR" altLang="en-US" sz="1300" dirty="0">
                <a:solidFill>
                  <a:schemeClr val="tx2"/>
                </a:solidFill>
              </a:rPr>
              <a:t>앱이 숫자를 그림과</a:t>
            </a:r>
            <a:endParaRPr lang="ko-KR" sz="1300" dirty="0"/>
          </a:p>
          <a:p>
            <a:pPr algn="ctr" indent="0" marL="0">
              <a:buNone/>
            </a:pPr>
            <a:r>
              <a:rPr lang="ko-KR" altLang="en-US" sz="1300" dirty="0">
                <a:solidFill>
                  <a:schemeClr val="tx2"/>
                </a:solidFill>
              </a:rPr>
              <a:t>글자로 바꿔 보여줘요</a:t>
            </a:r>
            <a:endParaRPr lang="ko-KR" sz="1300" dirty="0"/>
          </a:p>
        </p:txBody>
      </p:sp>
      <p:sp>
        <p:nvSpPr>
          <p:cNvPr id="23" name="translate card"/>
          <p:cNvSpPr/>
          <p:nvPr/>
        </p:nvSpPr>
        <p:spPr>
          <a:xfrm>
            <a:off x="457200" y="3611880"/>
            <a:ext cx="8229600" cy="1005840"/>
          </a:xfrm>
          <a:prstGeom prst="roundRect">
            <a:avLst>
              <a:gd name="adj" fmla="val 13636"/>
            </a:avLst>
          </a:prstGeom>
          <a:solidFill>
            <a:schemeClr val="bg2"/>
          </a:solidFill>
          <a:ln/>
        </p:spPr>
      </p:sp>
      <p:sp>
        <p:nvSpPr>
          <p:cNvPr id="24" name="translate text"/>
          <p:cNvSpPr txBox="1"/>
          <p:nvPr/>
        </p:nvSpPr>
        <p:spPr>
          <a:xfrm>
            <a:off x="685800" y="3703320"/>
            <a:ext cx="3383280" cy="822960"/>
          </a:xfrm>
          <a:prstGeom prst="rect">
            <a:avLst/>
          </a:prstGeom>
          <a:noFill/>
          <a:ln/>
        </p:spPr>
        <p:txBody>
          <a:bodyPr wrap="square" lIns="0" tIns="0" rIns="0" bIns="0" rtlCol="0" anchor="ctr"/>
          <a:lstStyle/>
          <a:p>
            <a:pPr indent="0" marL="0">
              <a:buNone/>
            </a:pPr>
            <a:r>
              <a:rPr lang="ko-KR" altLang="en-US" sz="1500" b="1" dirty="0">
                <a:solidFill>
                  <a:schemeClr val="tx1"/>
                </a:solidFill>
              </a:rPr>
              <a:t>날씨 서버는 숫자로만 대답해요</a:t>
            </a:r>
            <a:endParaRPr lang="ko-KR" sz="1500" dirty="0"/>
          </a:p>
          <a:p>
            <a:pPr indent="0" marL="0">
              <a:buNone/>
            </a:pPr>
            <a:r>
              <a:rPr lang="ko-KR" altLang="en-US" sz="1200" dirty="0">
                <a:solidFill>
                  <a:schemeClr val="tx2"/>
                </a:solidFill>
              </a:rPr>
              <a:t>앱이 그 숫자를 사람이 읽을 수 있게 번역해요</a:t>
            </a:r>
            <a:endParaRPr lang="ko-KR" sz="1500" dirty="0"/>
          </a:p>
        </p:txBody>
      </p:sp>
      <p:sp>
        <p:nvSpPr>
          <p:cNvPr id="25" name="code chip 1"/>
          <p:cNvSpPr/>
          <p:nvPr/>
        </p:nvSpPr>
        <p:spPr>
          <a:xfrm>
            <a:off x="4206240" y="3794760"/>
            <a:ext cx="1371600" cy="640080"/>
          </a:xfrm>
          <a:prstGeom prst="roundRect">
            <a:avLst>
              <a:gd name="adj" fmla="val 14286"/>
            </a:avLst>
          </a:prstGeom>
          <a:solidFill>
            <a:schemeClr val="bg1"/>
          </a:solidFill>
          <a:ln/>
          <a:effectLst>
            <a:outerShdw sx="100000" sy="100000" kx="0" ky="0" algn="bl" rotWithShape="0" blurRad="101600" dist="25400" dir="5400000">
              <a:srgbClr val="1B2A41">
                <a:alpha val="12000"/>
              </a:srgbClr>
            </a:outerShdw>
          </a:effectLst>
        </p:spPr>
      </p:sp>
      <p:sp>
        <p:nvSpPr>
          <p:cNvPr id="26" name="code num 1"/>
          <p:cNvSpPr txBox="1"/>
          <p:nvPr/>
        </p:nvSpPr>
        <p:spPr>
          <a:xfrm>
            <a:off x="4297680" y="3794760"/>
            <a:ext cx="502920" cy="640080"/>
          </a:xfrm>
          <a:prstGeom prst="rect">
            <a:avLst/>
          </a:prstGeom>
          <a:noFill/>
          <a:ln/>
        </p:spPr>
        <p:txBody>
          <a:bodyPr wrap="square" lIns="0" tIns="0" rIns="0" bIns="0" rtlCol="0" anchor="ctr"/>
          <a:lstStyle/>
          <a:p>
            <a:pPr indent="0" marL="0">
              <a:buNone/>
            </a:pPr>
            <a:r>
              <a:rPr lang="ko-KR" altLang="en-US" sz="1400" b="1" dirty="0">
                <a:solidFill>
                  <a:schemeClr val="tx2"/>
                </a:solidFill>
                <a:latin typeface="Courier New" pitchFamily="34" charset="0"/>
                <a:ea typeface="Courier New" pitchFamily="34" charset="-122"/>
                <a:cs typeface="Courier New" pitchFamily="34" charset="-120"/>
              </a:rPr>
              <a:t>0 →</a:t>
            </a:r>
            <a:endParaRPr lang="ko-KR" sz="1400" dirty="0"/>
          </a:p>
        </p:txBody>
      </p:sp>
      <p:pic>
        <p:nvPicPr>
          <p:cNvPr id="27" name="code icon 1" descr="맑음">    </p:cNvPr>
          <p:cNvPicPr>
            <a:picLocks noChangeAspect="1"/>
          </p:cNvPicPr>
          <p:nvPr/>
        </p:nvPicPr>
        <p:blipFill>
          <a:blip r:embed="rId5"/>
          <a:stretch>
            <a:fillRect/>
          </a:stretch>
        </p:blipFill>
        <p:spPr>
          <a:xfrm>
            <a:off x="4773168" y="3977640"/>
            <a:ext cx="274320" cy="274320"/>
          </a:xfrm>
          <a:prstGeom prst="rect">
            <a:avLst/>
          </a:prstGeom>
        </p:spPr>
      </p:pic>
      <p:sp>
        <p:nvSpPr>
          <p:cNvPr id="28" name="code label 1"/>
          <p:cNvSpPr txBox="1"/>
          <p:nvPr/>
        </p:nvSpPr>
        <p:spPr>
          <a:xfrm>
            <a:off x="5120640" y="3794760"/>
            <a:ext cx="438912" cy="640080"/>
          </a:xfrm>
          <a:prstGeom prst="rect">
            <a:avLst/>
          </a:prstGeom>
          <a:noFill/>
          <a:ln/>
        </p:spPr>
        <p:txBody>
          <a:bodyPr wrap="square" lIns="0" tIns="0" rIns="0" bIns="0" rtlCol="0" anchor="ctr"/>
          <a:lstStyle/>
          <a:p>
            <a:pPr indent="0" marL="0">
              <a:buNone/>
            </a:pPr>
            <a:r>
              <a:rPr lang="ko-KR" altLang="en-US" sz="1400" b="1" dirty="0">
                <a:solidFill>
                  <a:schemeClr val="tx1"/>
                </a:solidFill>
              </a:rPr>
              <a:t>맑음</a:t>
            </a:r>
            <a:endParaRPr lang="ko-KR" sz="1400" dirty="0"/>
          </a:p>
        </p:txBody>
      </p:sp>
      <p:sp>
        <p:nvSpPr>
          <p:cNvPr id="29" name="code chip 2"/>
          <p:cNvSpPr/>
          <p:nvPr/>
        </p:nvSpPr>
        <p:spPr>
          <a:xfrm>
            <a:off x="5715000" y="3794760"/>
            <a:ext cx="1371600" cy="640080"/>
          </a:xfrm>
          <a:prstGeom prst="roundRect">
            <a:avLst>
              <a:gd name="adj" fmla="val 14286"/>
            </a:avLst>
          </a:prstGeom>
          <a:solidFill>
            <a:schemeClr val="bg1"/>
          </a:solidFill>
          <a:ln/>
          <a:effectLst>
            <a:outerShdw sx="100000" sy="100000" kx="0" ky="0" algn="bl" rotWithShape="0" blurRad="101600" dist="25400" dir="5400000">
              <a:srgbClr val="1B2A41">
                <a:alpha val="12000"/>
              </a:srgbClr>
            </a:outerShdw>
          </a:effectLst>
        </p:spPr>
      </p:sp>
      <p:sp>
        <p:nvSpPr>
          <p:cNvPr id="30" name="code num 2"/>
          <p:cNvSpPr txBox="1"/>
          <p:nvPr/>
        </p:nvSpPr>
        <p:spPr>
          <a:xfrm>
            <a:off x="5806440" y="3794760"/>
            <a:ext cx="502920" cy="640080"/>
          </a:xfrm>
          <a:prstGeom prst="rect">
            <a:avLst/>
          </a:prstGeom>
          <a:noFill/>
          <a:ln/>
        </p:spPr>
        <p:txBody>
          <a:bodyPr wrap="square" lIns="0" tIns="0" rIns="0" bIns="0" rtlCol="0" anchor="ctr"/>
          <a:lstStyle/>
          <a:p>
            <a:pPr indent="0" marL="0">
              <a:buNone/>
            </a:pPr>
            <a:r>
              <a:rPr lang="ko-KR" altLang="en-US" sz="1400" b="1" dirty="0">
                <a:solidFill>
                  <a:schemeClr val="tx2"/>
                </a:solidFill>
                <a:latin typeface="Courier New" pitchFamily="34" charset="0"/>
                <a:ea typeface="Courier New" pitchFamily="34" charset="-122"/>
                <a:cs typeface="Courier New" pitchFamily="34" charset="-120"/>
              </a:rPr>
              <a:t>61 →</a:t>
            </a:r>
            <a:endParaRPr lang="ko-KR" sz="1400" dirty="0"/>
          </a:p>
        </p:txBody>
      </p:sp>
      <p:pic>
        <p:nvPicPr>
          <p:cNvPr id="31" name="code icon 2" descr="비">    </p:cNvPr>
          <p:cNvPicPr>
            <a:picLocks noChangeAspect="1"/>
          </p:cNvPicPr>
          <p:nvPr/>
        </p:nvPicPr>
        <p:blipFill>
          <a:blip r:embed="rId6"/>
          <a:stretch>
            <a:fillRect/>
          </a:stretch>
        </p:blipFill>
        <p:spPr>
          <a:xfrm>
            <a:off x="6281928" y="3977640"/>
            <a:ext cx="274320" cy="274320"/>
          </a:xfrm>
          <a:prstGeom prst="rect">
            <a:avLst/>
          </a:prstGeom>
        </p:spPr>
      </p:pic>
      <p:sp>
        <p:nvSpPr>
          <p:cNvPr id="32" name="code label 2"/>
          <p:cNvSpPr txBox="1"/>
          <p:nvPr/>
        </p:nvSpPr>
        <p:spPr>
          <a:xfrm>
            <a:off x="6629400" y="3794760"/>
            <a:ext cx="438912" cy="640080"/>
          </a:xfrm>
          <a:prstGeom prst="rect">
            <a:avLst/>
          </a:prstGeom>
          <a:noFill/>
          <a:ln/>
        </p:spPr>
        <p:txBody>
          <a:bodyPr wrap="square" lIns="0" tIns="0" rIns="0" bIns="0" rtlCol="0" anchor="ctr"/>
          <a:lstStyle/>
          <a:p>
            <a:pPr indent="0" marL="0">
              <a:buNone/>
            </a:pPr>
            <a:r>
              <a:rPr lang="ko-KR" altLang="en-US" sz="1400" b="1" dirty="0">
                <a:solidFill>
                  <a:schemeClr val="tx1"/>
                </a:solidFill>
              </a:rPr>
              <a:t>비</a:t>
            </a:r>
            <a:endParaRPr lang="ko-KR" sz="1400" dirty="0"/>
          </a:p>
        </p:txBody>
      </p:sp>
      <p:sp>
        <p:nvSpPr>
          <p:cNvPr id="33" name="code chip 3"/>
          <p:cNvSpPr/>
          <p:nvPr/>
        </p:nvSpPr>
        <p:spPr>
          <a:xfrm>
            <a:off x="7223760" y="3794760"/>
            <a:ext cx="1371600" cy="640080"/>
          </a:xfrm>
          <a:prstGeom prst="roundRect">
            <a:avLst>
              <a:gd name="adj" fmla="val 14286"/>
            </a:avLst>
          </a:prstGeom>
          <a:solidFill>
            <a:schemeClr val="bg1"/>
          </a:solidFill>
          <a:ln/>
          <a:effectLst>
            <a:outerShdw sx="100000" sy="100000" kx="0" ky="0" algn="bl" rotWithShape="0" blurRad="101600" dist="25400" dir="5400000">
              <a:srgbClr val="1B2A41">
                <a:alpha val="12000"/>
              </a:srgbClr>
            </a:outerShdw>
          </a:effectLst>
        </p:spPr>
      </p:sp>
      <p:sp>
        <p:nvSpPr>
          <p:cNvPr id="34" name="code num 3"/>
          <p:cNvSpPr txBox="1"/>
          <p:nvPr/>
        </p:nvSpPr>
        <p:spPr>
          <a:xfrm>
            <a:off x="7315200" y="3794760"/>
            <a:ext cx="502920" cy="640080"/>
          </a:xfrm>
          <a:prstGeom prst="rect">
            <a:avLst/>
          </a:prstGeom>
          <a:noFill/>
          <a:ln/>
        </p:spPr>
        <p:txBody>
          <a:bodyPr wrap="square" lIns="0" tIns="0" rIns="0" bIns="0" rtlCol="0" anchor="ctr"/>
          <a:lstStyle/>
          <a:p>
            <a:pPr indent="0" marL="0">
              <a:buNone/>
            </a:pPr>
            <a:r>
              <a:rPr lang="ko-KR" altLang="en-US" sz="1400" b="1" dirty="0">
                <a:solidFill>
                  <a:schemeClr val="tx2"/>
                </a:solidFill>
                <a:latin typeface="Courier New" pitchFamily="34" charset="0"/>
                <a:ea typeface="Courier New" pitchFamily="34" charset="-122"/>
                <a:cs typeface="Courier New" pitchFamily="34" charset="-120"/>
              </a:rPr>
              <a:t>71 →</a:t>
            </a:r>
            <a:endParaRPr lang="ko-KR" sz="1400" dirty="0"/>
          </a:p>
        </p:txBody>
      </p:sp>
      <p:pic>
        <p:nvPicPr>
          <p:cNvPr id="35" name="code icon 3" descr="눈">    </p:cNvPr>
          <p:cNvPicPr>
            <a:picLocks noChangeAspect="1"/>
          </p:cNvPicPr>
          <p:nvPr/>
        </p:nvPicPr>
        <p:blipFill>
          <a:blip r:embed="rId7"/>
          <a:stretch>
            <a:fillRect/>
          </a:stretch>
        </p:blipFill>
        <p:spPr>
          <a:xfrm>
            <a:off x="7790688" y="3977640"/>
            <a:ext cx="274320" cy="274320"/>
          </a:xfrm>
          <a:prstGeom prst="rect">
            <a:avLst/>
          </a:prstGeom>
        </p:spPr>
      </p:pic>
      <p:sp>
        <p:nvSpPr>
          <p:cNvPr id="36" name="code label 3"/>
          <p:cNvSpPr txBox="1"/>
          <p:nvPr/>
        </p:nvSpPr>
        <p:spPr>
          <a:xfrm>
            <a:off x="8138160" y="3794760"/>
            <a:ext cx="438912" cy="640080"/>
          </a:xfrm>
          <a:prstGeom prst="rect">
            <a:avLst/>
          </a:prstGeom>
          <a:noFill/>
          <a:ln/>
        </p:spPr>
        <p:txBody>
          <a:bodyPr wrap="square" lIns="0" tIns="0" rIns="0" bIns="0" rtlCol="0" anchor="ctr"/>
          <a:lstStyle/>
          <a:p>
            <a:pPr indent="0" marL="0">
              <a:buNone/>
            </a:pPr>
            <a:r>
              <a:rPr lang="ko-KR" altLang="en-US" sz="1400" b="1" dirty="0">
                <a:solidFill>
                  <a:schemeClr val="tx1"/>
                </a:solidFill>
              </a:rPr>
              <a:t>눈</a:t>
            </a:r>
            <a:endParaRPr lang="ko-KR" sz="1400" dirty="0"/>
          </a:p>
        </p:txBody>
      </p:sp>
      <p:sp>
        <p:nvSpPr>
          <p:cNvPr id="37" name="source"/>
          <p:cNvSpPr txBox="1"/>
          <p:nvPr/>
        </p:nvSpPr>
        <p:spPr>
          <a:xfrm>
            <a:off x="457200" y="4709160"/>
            <a:ext cx="5486400" cy="274320"/>
          </a:xfrm>
          <a:prstGeom prst="rect">
            <a:avLst/>
          </a:prstGeom>
          <a:noFill/>
          <a:ln/>
        </p:spPr>
        <p:txBody>
          <a:bodyPr wrap="square" lIns="0" tIns="0" rIns="0" bIns="0" rtlCol="0" anchor="ctr"/>
          <a:lstStyle/>
          <a:p>
            <a:pPr indent="0" marL="0">
              <a:buNone/>
            </a:pPr>
            <a:r>
              <a:rPr lang="ko-KR" altLang="en-US" sz="1000" dirty="0">
                <a:solidFill>
                  <a:schemeClr val="tx2"/>
                </a:solidFill>
              </a:rPr>
              <a:t>사용한 서버: Open-Meteo (무료, 가입·키 필요 없음)</a:t>
            </a:r>
            <a:endParaRPr lang="ko-KR"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AI와 함께 만든 과정</a:t>
            </a:r>
            <a:endParaRPr lang="en-US" sz="3400" dirty="0"/>
          </a:p>
        </p:txBody>
      </p:sp>
      <p:sp>
        <p:nvSpPr>
          <p:cNvPr id="3" name="timeline"/>
          <p:cNvSpPr/>
          <p:nvPr/>
        </p:nvSpPr>
        <p:spPr>
          <a:xfrm>
            <a:off x="822960" y="1783080"/>
            <a:ext cx="7498080" cy="0"/>
          </a:xfrm>
          <a:prstGeom prst="line">
            <a:avLst/>
          </a:prstGeom>
          <a:noFill/>
          <a:ln w="25400">
            <a:solidFill>
              <a:srgbClr val="8A9AB0"/>
            </a:solidFill>
            <a:prstDash val="solid"/>
          </a:ln>
        </p:spPr>
      </p:sp>
      <p:sp>
        <p:nvSpPr>
          <p:cNvPr id="4" name="tl date 1"/>
          <p:cNvSpPr txBox="1"/>
          <p:nvPr/>
        </p:nvSpPr>
        <p:spPr>
          <a:xfrm>
            <a:off x="457200" y="1188720"/>
            <a:ext cx="1920240" cy="320040"/>
          </a:xfrm>
          <a:prstGeom prst="rect">
            <a:avLst/>
          </a:prstGeom>
          <a:noFill/>
          <a:ln/>
        </p:spPr>
        <p:txBody>
          <a:bodyPr wrap="square" lIns="0" tIns="0" rIns="0" bIns="0" rtlCol="0" anchor="ctr"/>
          <a:lstStyle/>
          <a:p>
            <a:pPr algn="ctr" indent="0" marL="0">
              <a:buNone/>
            </a:pPr>
            <a:r>
              <a:rPr lang="ko-KR" altLang="en-US" sz="1400" b="1" dirty="0">
                <a:solidFill>
                  <a:schemeClr val="accent1"/>
                </a:solidFill>
              </a:rPr>
              <a:t>2026. 05</a:t>
            </a:r>
            <a:endParaRPr lang="ko-KR" sz="1400" dirty="0"/>
          </a:p>
        </p:txBody>
      </p:sp>
      <p:sp>
        <p:nvSpPr>
          <p:cNvPr id="5" name="tl dot 1"/>
          <p:cNvSpPr/>
          <p:nvPr/>
        </p:nvSpPr>
        <p:spPr>
          <a:xfrm>
            <a:off x="1289304" y="1655064"/>
            <a:ext cx="256032" cy="256032"/>
          </a:xfrm>
          <a:prstGeom prst="ellipse">
            <a:avLst/>
          </a:prstGeom>
          <a:solidFill>
            <a:schemeClr val="accent1"/>
          </a:solidFill>
          <a:ln w="25400">
            <a:solidFill>
              <a:schemeClr val="bg1"/>
            </a:solidFill>
            <a:prstDash val="solid"/>
          </a:ln>
        </p:spPr>
      </p:sp>
      <p:sp>
        <p:nvSpPr>
          <p:cNvPr id="6" name="tl head 1"/>
          <p:cNvSpPr txBox="1"/>
          <p:nvPr/>
        </p:nvSpPr>
        <p:spPr>
          <a:xfrm>
            <a:off x="457200" y="2057400"/>
            <a:ext cx="1920240" cy="320040"/>
          </a:xfrm>
          <a:prstGeom prst="rect">
            <a:avLst/>
          </a:prstGeom>
          <a:noFill/>
          <a:ln/>
        </p:spPr>
        <p:txBody>
          <a:bodyPr wrap="square" lIns="0" tIns="0" rIns="0" bIns="0" rtlCol="0" anchor="ctr"/>
          <a:lstStyle/>
          <a:p>
            <a:pPr algn="ctr" indent="0" marL="0">
              <a:buNone/>
            </a:pPr>
            <a:r>
              <a:rPr lang="ko-KR" altLang="en-US" sz="1500" b="1" dirty="0">
                <a:solidFill>
                  <a:schemeClr val="tx1"/>
                </a:solidFill>
              </a:rPr>
              <a:t>첫 화면 만들기</a:t>
            </a:r>
            <a:endParaRPr lang="ko-KR" sz="1500" dirty="0"/>
          </a:p>
        </p:txBody>
      </p:sp>
      <p:sp>
        <p:nvSpPr>
          <p:cNvPr id="7" name="tl body 1"/>
          <p:cNvSpPr txBox="1"/>
          <p:nvPr/>
        </p:nvSpPr>
        <p:spPr>
          <a:xfrm>
            <a:off x="502920" y="2395728"/>
            <a:ext cx="1828800" cy="868680"/>
          </a:xfrm>
          <a:prstGeom prst="rect">
            <a:avLst/>
          </a:prstGeom>
          <a:noFill/>
          <a:ln/>
        </p:spPr>
        <p:txBody>
          <a:bodyPr wrap="square" lIns="0" tIns="0" rIns="0" bIns="0" rtlCol="0" anchor="t"/>
          <a:lstStyle/>
          <a:p>
            <a:pPr algn="ctr" indent="0" marL="0">
              <a:buNone/>
            </a:pPr>
            <a:r>
              <a:rPr lang="ko-KR" altLang="en-US" sz="1200" dirty="0">
                <a:solidFill>
                  <a:schemeClr val="tx2"/>
                </a:solidFill>
              </a:rPr>
              <a:t>AI에게 원하는 앱을 설명해서 날씨 앱의 뼈대를 완성</a:t>
            </a:r>
            <a:endParaRPr lang="ko-KR" sz="1200" dirty="0"/>
          </a:p>
        </p:txBody>
      </p:sp>
      <p:sp>
        <p:nvSpPr>
          <p:cNvPr id="8" name="tl tag 1"/>
          <p:cNvSpPr/>
          <p:nvPr/>
        </p:nvSpPr>
        <p:spPr>
          <a:xfrm>
            <a:off x="960120" y="3310128"/>
            <a:ext cx="914400" cy="274320"/>
          </a:xfrm>
          <a:prstGeom prst="roundRect">
            <a:avLst>
              <a:gd name="adj" fmla="val 50000"/>
            </a:avLst>
          </a:prstGeom>
          <a:solidFill>
            <a:schemeClr val="accent1">
              <a:alpha val="18000"/>
            </a:schemeClr>
          </a:solidFill>
          <a:ln/>
        </p:spPr>
      </p:sp>
      <p:sp>
        <p:nvSpPr>
          <p:cNvPr id="9" name="tl tag text 1"/>
          <p:cNvSpPr txBox="1"/>
          <p:nvPr/>
        </p:nvSpPr>
        <p:spPr>
          <a:xfrm>
            <a:off x="960120" y="3310128"/>
            <a:ext cx="914400" cy="274320"/>
          </a:xfrm>
          <a:prstGeom prst="rect">
            <a:avLst/>
          </a:prstGeom>
          <a:noFill/>
          <a:ln/>
        </p:spPr>
        <p:txBody>
          <a:bodyPr wrap="square" lIns="0" tIns="0" rIns="0" bIns="0" rtlCol="0" anchor="ctr"/>
          <a:lstStyle/>
          <a:p>
            <a:pPr algn="ctr" indent="0" marL="0">
              <a:buNone/>
            </a:pPr>
            <a:r>
              <a:rPr lang="ko-KR" altLang="en-US" sz="1100" b="1" dirty="0">
                <a:solidFill>
                  <a:schemeClr val="accent1"/>
                </a:solidFill>
              </a:rPr>
              <a:t>Codex</a:t>
            </a:r>
            <a:endParaRPr lang="ko-KR" sz="1100" dirty="0"/>
          </a:p>
        </p:txBody>
      </p:sp>
      <p:sp>
        <p:nvSpPr>
          <p:cNvPr id="10" name="tl date 2"/>
          <p:cNvSpPr txBox="1"/>
          <p:nvPr/>
        </p:nvSpPr>
        <p:spPr>
          <a:xfrm>
            <a:off x="2532888" y="1188720"/>
            <a:ext cx="1920240" cy="320040"/>
          </a:xfrm>
          <a:prstGeom prst="rect">
            <a:avLst/>
          </a:prstGeom>
          <a:noFill/>
          <a:ln/>
        </p:spPr>
        <p:txBody>
          <a:bodyPr wrap="square" lIns="0" tIns="0" rIns="0" bIns="0" rtlCol="0" anchor="ctr"/>
          <a:lstStyle/>
          <a:p>
            <a:pPr algn="ctr" indent="0" marL="0">
              <a:buNone/>
            </a:pPr>
            <a:r>
              <a:rPr lang="ko-KR" altLang="en-US" sz="1400" b="1" dirty="0">
                <a:solidFill>
                  <a:schemeClr val="accent3"/>
                </a:solidFill>
              </a:rPr>
              <a:t>2026. 07</a:t>
            </a:r>
            <a:endParaRPr lang="ko-KR" sz="1400" dirty="0"/>
          </a:p>
        </p:txBody>
      </p:sp>
      <p:sp>
        <p:nvSpPr>
          <p:cNvPr id="11" name="tl dot 2"/>
          <p:cNvSpPr/>
          <p:nvPr/>
        </p:nvSpPr>
        <p:spPr>
          <a:xfrm>
            <a:off x="3364992" y="1655064"/>
            <a:ext cx="256032" cy="256032"/>
          </a:xfrm>
          <a:prstGeom prst="ellipse">
            <a:avLst/>
          </a:prstGeom>
          <a:solidFill>
            <a:schemeClr val="accent3"/>
          </a:solidFill>
          <a:ln w="25400">
            <a:solidFill>
              <a:schemeClr val="bg1"/>
            </a:solidFill>
            <a:prstDash val="solid"/>
          </a:ln>
        </p:spPr>
      </p:sp>
      <p:sp>
        <p:nvSpPr>
          <p:cNvPr id="12" name="tl head 2"/>
          <p:cNvSpPr txBox="1"/>
          <p:nvPr/>
        </p:nvSpPr>
        <p:spPr>
          <a:xfrm>
            <a:off x="2532888" y="2057400"/>
            <a:ext cx="1920240" cy="320040"/>
          </a:xfrm>
          <a:prstGeom prst="rect">
            <a:avLst/>
          </a:prstGeom>
          <a:noFill/>
          <a:ln/>
        </p:spPr>
        <p:txBody>
          <a:bodyPr wrap="square" lIns="0" tIns="0" rIns="0" bIns="0" rtlCol="0" anchor="ctr"/>
          <a:lstStyle/>
          <a:p>
            <a:pPr algn="ctr" indent="0" marL="0">
              <a:buNone/>
            </a:pPr>
            <a:r>
              <a:rPr lang="ko-KR" altLang="en-US" sz="1500" b="1" dirty="0">
                <a:solidFill>
                  <a:schemeClr val="tx1"/>
                </a:solidFill>
              </a:rPr>
              <a:t>웹 배포 도전</a:t>
            </a:r>
            <a:endParaRPr lang="ko-KR" sz="1500" dirty="0"/>
          </a:p>
        </p:txBody>
      </p:sp>
      <p:sp>
        <p:nvSpPr>
          <p:cNvPr id="13" name="tl body 2"/>
          <p:cNvSpPr txBox="1"/>
          <p:nvPr/>
        </p:nvSpPr>
        <p:spPr>
          <a:xfrm>
            <a:off x="2578608" y="2395728"/>
            <a:ext cx="1828800" cy="868680"/>
          </a:xfrm>
          <a:prstGeom prst="rect">
            <a:avLst/>
          </a:prstGeom>
          <a:noFill/>
          <a:ln/>
        </p:spPr>
        <p:txBody>
          <a:bodyPr wrap="square" lIns="0" tIns="0" rIns="0" bIns="0" rtlCol="0" anchor="t"/>
          <a:lstStyle/>
          <a:p>
            <a:pPr algn="ctr" indent="0" marL="0">
              <a:buNone/>
            </a:pPr>
            <a:r>
              <a:rPr lang="ko-KR" altLang="en-US" sz="1200" dirty="0">
                <a:solidFill>
                  <a:schemeClr val="tx2"/>
                </a:solidFill>
              </a:rPr>
              <a:t>기상청 API를 써 봤지만 브라우저 보안 규칙에 막혀 Open-Meteo로 변경</a:t>
            </a:r>
            <a:endParaRPr lang="ko-KR" sz="1200" dirty="0"/>
          </a:p>
        </p:txBody>
      </p:sp>
      <p:sp>
        <p:nvSpPr>
          <p:cNvPr id="14" name="tl tag 2"/>
          <p:cNvSpPr/>
          <p:nvPr/>
        </p:nvSpPr>
        <p:spPr>
          <a:xfrm>
            <a:off x="3035808" y="3310128"/>
            <a:ext cx="914400" cy="274320"/>
          </a:xfrm>
          <a:prstGeom prst="roundRect">
            <a:avLst>
              <a:gd name="adj" fmla="val 50000"/>
            </a:avLst>
          </a:prstGeom>
          <a:solidFill>
            <a:schemeClr val="accent3">
              <a:alpha val="18000"/>
            </a:schemeClr>
          </a:solidFill>
          <a:ln/>
        </p:spPr>
      </p:sp>
      <p:sp>
        <p:nvSpPr>
          <p:cNvPr id="15" name="tl tag text 2"/>
          <p:cNvSpPr txBox="1"/>
          <p:nvPr/>
        </p:nvSpPr>
        <p:spPr>
          <a:xfrm>
            <a:off x="3035808" y="3310128"/>
            <a:ext cx="914400" cy="274320"/>
          </a:xfrm>
          <a:prstGeom prst="rect">
            <a:avLst/>
          </a:prstGeom>
          <a:noFill/>
          <a:ln/>
        </p:spPr>
        <p:txBody>
          <a:bodyPr wrap="square" lIns="0" tIns="0" rIns="0" bIns="0" rtlCol="0" anchor="ctr"/>
          <a:lstStyle/>
          <a:p>
            <a:pPr algn="ctr" indent="0" marL="0">
              <a:buNone/>
            </a:pPr>
            <a:r>
              <a:rPr lang="ko-KR" altLang="en-US" sz="1100" b="1" dirty="0">
                <a:solidFill>
                  <a:schemeClr val="accent3"/>
                </a:solidFill>
              </a:rPr>
              <a:t>시행착오</a:t>
            </a:r>
            <a:endParaRPr lang="ko-KR" sz="1100" dirty="0"/>
          </a:p>
        </p:txBody>
      </p:sp>
      <p:sp>
        <p:nvSpPr>
          <p:cNvPr id="16" name="tl date 3"/>
          <p:cNvSpPr txBox="1"/>
          <p:nvPr/>
        </p:nvSpPr>
        <p:spPr>
          <a:xfrm>
            <a:off x="4608576" y="1188720"/>
            <a:ext cx="1920240" cy="320040"/>
          </a:xfrm>
          <a:prstGeom prst="rect">
            <a:avLst/>
          </a:prstGeom>
          <a:noFill/>
          <a:ln/>
        </p:spPr>
        <p:txBody>
          <a:bodyPr wrap="square" lIns="0" tIns="0" rIns="0" bIns="0" rtlCol="0" anchor="ctr"/>
          <a:lstStyle/>
          <a:p>
            <a:pPr algn="ctr" indent="0" marL="0">
              <a:buNone/>
            </a:pPr>
            <a:r>
              <a:rPr lang="ko-KR" altLang="en-US" sz="1400" b="1" dirty="0">
                <a:solidFill>
                  <a:schemeClr val="accent1"/>
                </a:solidFill>
              </a:rPr>
              <a:t>2026. 08</a:t>
            </a:r>
            <a:endParaRPr lang="ko-KR" sz="1400" dirty="0"/>
          </a:p>
        </p:txBody>
      </p:sp>
      <p:sp>
        <p:nvSpPr>
          <p:cNvPr id="17" name="tl dot 3"/>
          <p:cNvSpPr/>
          <p:nvPr/>
        </p:nvSpPr>
        <p:spPr>
          <a:xfrm>
            <a:off x="5440680" y="1655064"/>
            <a:ext cx="256032" cy="256032"/>
          </a:xfrm>
          <a:prstGeom prst="ellipse">
            <a:avLst/>
          </a:prstGeom>
          <a:solidFill>
            <a:schemeClr val="accent1"/>
          </a:solidFill>
          <a:ln w="25400">
            <a:solidFill>
              <a:schemeClr val="bg1"/>
            </a:solidFill>
            <a:prstDash val="solid"/>
          </a:ln>
        </p:spPr>
      </p:sp>
      <p:sp>
        <p:nvSpPr>
          <p:cNvPr id="18" name="tl head 3"/>
          <p:cNvSpPr txBox="1"/>
          <p:nvPr/>
        </p:nvSpPr>
        <p:spPr>
          <a:xfrm>
            <a:off x="4608576" y="2057400"/>
            <a:ext cx="1920240" cy="320040"/>
          </a:xfrm>
          <a:prstGeom prst="rect">
            <a:avLst/>
          </a:prstGeom>
          <a:noFill/>
          <a:ln/>
        </p:spPr>
        <p:txBody>
          <a:bodyPr wrap="square" lIns="0" tIns="0" rIns="0" bIns="0" rtlCol="0" anchor="ctr"/>
          <a:lstStyle/>
          <a:p>
            <a:pPr algn="ctr" indent="0" marL="0">
              <a:buNone/>
            </a:pPr>
            <a:r>
              <a:rPr lang="ko-KR" altLang="en-US" sz="1500" b="1" dirty="0">
                <a:solidFill>
                  <a:schemeClr val="tx1"/>
                </a:solidFill>
              </a:rPr>
              <a:t>다듬기</a:t>
            </a:r>
            <a:endParaRPr lang="ko-KR" sz="1500" dirty="0"/>
          </a:p>
        </p:txBody>
      </p:sp>
      <p:sp>
        <p:nvSpPr>
          <p:cNvPr id="19" name="tl body 3"/>
          <p:cNvSpPr txBox="1"/>
          <p:nvPr/>
        </p:nvSpPr>
        <p:spPr>
          <a:xfrm>
            <a:off x="4654296" y="2395728"/>
            <a:ext cx="1828800" cy="868680"/>
          </a:xfrm>
          <a:prstGeom prst="rect">
            <a:avLst/>
          </a:prstGeom>
          <a:noFill/>
          <a:ln/>
        </p:spPr>
        <p:txBody>
          <a:bodyPr wrap="square" lIns="0" tIns="0" rIns="0" bIns="0" rtlCol="0" anchor="t"/>
          <a:lstStyle/>
          <a:p>
            <a:pPr algn="ctr" indent="0" marL="0">
              <a:buNone/>
            </a:pPr>
            <a:r>
              <a:rPr lang="ko-KR" altLang="en-US" sz="1200" dirty="0">
                <a:solidFill>
                  <a:schemeClr val="tx2"/>
                </a:solidFill>
              </a:rPr>
              <a:t>새 버전 Flutter에 맞게 오류를 고치고 자동 테스트 추가</a:t>
            </a:r>
            <a:endParaRPr lang="ko-KR" sz="1200" dirty="0"/>
          </a:p>
        </p:txBody>
      </p:sp>
      <p:sp>
        <p:nvSpPr>
          <p:cNvPr id="20" name="tl tag 3"/>
          <p:cNvSpPr/>
          <p:nvPr/>
        </p:nvSpPr>
        <p:spPr>
          <a:xfrm>
            <a:off x="5111496" y="3310128"/>
            <a:ext cx="914400" cy="274320"/>
          </a:xfrm>
          <a:prstGeom prst="roundRect">
            <a:avLst>
              <a:gd name="adj" fmla="val 50000"/>
            </a:avLst>
          </a:prstGeom>
          <a:solidFill>
            <a:schemeClr val="accent1">
              <a:alpha val="18000"/>
            </a:schemeClr>
          </a:solidFill>
          <a:ln/>
        </p:spPr>
      </p:sp>
      <p:sp>
        <p:nvSpPr>
          <p:cNvPr id="21" name="tl tag text 3"/>
          <p:cNvSpPr txBox="1"/>
          <p:nvPr/>
        </p:nvSpPr>
        <p:spPr>
          <a:xfrm>
            <a:off x="5111496" y="3310128"/>
            <a:ext cx="914400" cy="274320"/>
          </a:xfrm>
          <a:prstGeom prst="rect">
            <a:avLst/>
          </a:prstGeom>
          <a:noFill/>
          <a:ln/>
        </p:spPr>
        <p:txBody>
          <a:bodyPr wrap="square" lIns="0" tIns="0" rIns="0" bIns="0" rtlCol="0" anchor="ctr"/>
          <a:lstStyle/>
          <a:p>
            <a:pPr algn="ctr" indent="0" marL="0">
              <a:buNone/>
            </a:pPr>
            <a:r>
              <a:rPr lang="ko-KR" altLang="en-US" sz="1100" b="1" dirty="0">
                <a:solidFill>
                  <a:schemeClr val="accent1"/>
                </a:solidFill>
              </a:rPr>
              <a:t>Codex</a:t>
            </a:r>
            <a:endParaRPr lang="ko-KR" sz="1100" dirty="0"/>
          </a:p>
        </p:txBody>
      </p:sp>
      <p:sp>
        <p:nvSpPr>
          <p:cNvPr id="22" name="tl date 4"/>
          <p:cNvSpPr txBox="1"/>
          <p:nvPr/>
        </p:nvSpPr>
        <p:spPr>
          <a:xfrm>
            <a:off x="6684264" y="1188720"/>
            <a:ext cx="1920240" cy="320040"/>
          </a:xfrm>
          <a:prstGeom prst="rect">
            <a:avLst/>
          </a:prstGeom>
          <a:noFill/>
          <a:ln/>
        </p:spPr>
        <p:txBody>
          <a:bodyPr wrap="square" lIns="0" tIns="0" rIns="0" bIns="0" rtlCol="0" anchor="ctr"/>
          <a:lstStyle/>
          <a:p>
            <a:pPr algn="ctr" indent="0" marL="0">
              <a:buNone/>
            </a:pPr>
            <a:r>
              <a:rPr lang="ko-KR" altLang="en-US" sz="1400" b="1" dirty="0">
                <a:solidFill>
                  <a:schemeClr val="accent5"/>
                </a:solidFill>
              </a:rPr>
              <a:t>2026. 10</a:t>
            </a:r>
            <a:endParaRPr lang="ko-KR" sz="1400" dirty="0"/>
          </a:p>
        </p:txBody>
      </p:sp>
      <p:sp>
        <p:nvSpPr>
          <p:cNvPr id="23" name="tl dot 4"/>
          <p:cNvSpPr/>
          <p:nvPr/>
        </p:nvSpPr>
        <p:spPr>
          <a:xfrm>
            <a:off x="7516368" y="1655064"/>
            <a:ext cx="256032" cy="256032"/>
          </a:xfrm>
          <a:prstGeom prst="ellipse">
            <a:avLst/>
          </a:prstGeom>
          <a:solidFill>
            <a:schemeClr val="accent5"/>
          </a:solidFill>
          <a:ln w="25400">
            <a:solidFill>
              <a:schemeClr val="bg1"/>
            </a:solidFill>
            <a:prstDash val="solid"/>
          </a:ln>
        </p:spPr>
      </p:sp>
      <p:sp>
        <p:nvSpPr>
          <p:cNvPr id="24" name="tl head 4"/>
          <p:cNvSpPr txBox="1"/>
          <p:nvPr/>
        </p:nvSpPr>
        <p:spPr>
          <a:xfrm>
            <a:off x="6684264" y="2057400"/>
            <a:ext cx="1920240" cy="320040"/>
          </a:xfrm>
          <a:prstGeom prst="rect">
            <a:avLst/>
          </a:prstGeom>
          <a:noFill/>
          <a:ln/>
        </p:spPr>
        <p:txBody>
          <a:bodyPr wrap="square" lIns="0" tIns="0" rIns="0" bIns="0" rtlCol="0" anchor="ctr"/>
          <a:lstStyle/>
          <a:p>
            <a:pPr algn="ctr" indent="0" marL="0">
              <a:buNone/>
            </a:pPr>
            <a:r>
              <a:rPr lang="ko-KR" altLang="en-US" sz="1500" b="1" dirty="0">
                <a:solidFill>
                  <a:schemeClr val="tx1"/>
                </a:solidFill>
              </a:rPr>
              <a:t>설치 파일 배포</a:t>
            </a:r>
            <a:endParaRPr lang="ko-KR" sz="1500" dirty="0"/>
          </a:p>
        </p:txBody>
      </p:sp>
      <p:sp>
        <p:nvSpPr>
          <p:cNvPr id="25" name="tl body 4"/>
          <p:cNvSpPr txBox="1"/>
          <p:nvPr/>
        </p:nvSpPr>
        <p:spPr>
          <a:xfrm>
            <a:off x="6729984" y="2395728"/>
            <a:ext cx="1828800" cy="868680"/>
          </a:xfrm>
          <a:prstGeom prst="rect">
            <a:avLst/>
          </a:prstGeom>
          <a:noFill/>
          <a:ln/>
        </p:spPr>
        <p:txBody>
          <a:bodyPr wrap="square" lIns="0" tIns="0" rIns="0" bIns="0" rtlCol="0" anchor="t"/>
          <a:lstStyle/>
          <a:p>
            <a:pPr algn="ctr" indent="0" marL="0">
              <a:buNone/>
            </a:pPr>
            <a:r>
              <a:rPr lang="ko-KR" altLang="en-US" sz="1200" dirty="0">
                <a:solidFill>
                  <a:schemeClr val="tx2"/>
                </a:solidFill>
              </a:rPr>
              <a:t>안드로이드 설치 파일(APK)이 자동으로 만들어지게 설정</a:t>
            </a:r>
            <a:endParaRPr lang="ko-KR" sz="1200" dirty="0"/>
          </a:p>
        </p:txBody>
      </p:sp>
      <p:sp>
        <p:nvSpPr>
          <p:cNvPr id="26" name="tl tag 4"/>
          <p:cNvSpPr/>
          <p:nvPr/>
        </p:nvSpPr>
        <p:spPr>
          <a:xfrm>
            <a:off x="7050024" y="3310128"/>
            <a:ext cx="1188720" cy="274320"/>
          </a:xfrm>
          <a:prstGeom prst="roundRect">
            <a:avLst>
              <a:gd name="adj" fmla="val 50000"/>
            </a:avLst>
          </a:prstGeom>
          <a:solidFill>
            <a:schemeClr val="accent5">
              <a:alpha val="18000"/>
            </a:schemeClr>
          </a:solidFill>
          <a:ln/>
        </p:spPr>
      </p:sp>
      <p:sp>
        <p:nvSpPr>
          <p:cNvPr id="27" name="tl tag text 4"/>
          <p:cNvSpPr txBox="1"/>
          <p:nvPr/>
        </p:nvSpPr>
        <p:spPr>
          <a:xfrm>
            <a:off x="7050024" y="3310128"/>
            <a:ext cx="1188720" cy="274320"/>
          </a:xfrm>
          <a:prstGeom prst="rect">
            <a:avLst/>
          </a:prstGeom>
          <a:noFill/>
          <a:ln/>
        </p:spPr>
        <p:txBody>
          <a:bodyPr wrap="square" lIns="0" tIns="0" rIns="0" bIns="0" rtlCol="0" anchor="ctr"/>
          <a:lstStyle/>
          <a:p>
            <a:pPr algn="ctr" indent="0" marL="0">
              <a:buNone/>
            </a:pPr>
            <a:r>
              <a:rPr lang="ko-KR" altLang="en-US" sz="1100" b="1" dirty="0">
                <a:solidFill>
                  <a:schemeClr val="accent5"/>
                </a:solidFill>
              </a:rPr>
              <a:t>Claude Code</a:t>
            </a:r>
            <a:endParaRPr lang="ko-KR" sz="1100" dirty="0"/>
          </a:p>
        </p:txBody>
      </p:sp>
      <p:sp>
        <p:nvSpPr>
          <p:cNvPr id="28" name="stat card 1"/>
          <p:cNvSpPr/>
          <p:nvPr/>
        </p:nvSpPr>
        <p:spPr>
          <a:xfrm>
            <a:off x="457200" y="3794760"/>
            <a:ext cx="2651760" cy="822960"/>
          </a:xfrm>
          <a:prstGeom prst="roundRect">
            <a:avLst>
              <a:gd name="adj" fmla="val 13333"/>
            </a:avLst>
          </a:prstGeom>
          <a:solidFill>
            <a:schemeClr val="bg2"/>
          </a:solidFill>
          <a:ln/>
        </p:spPr>
      </p:sp>
      <p:sp>
        <p:nvSpPr>
          <p:cNvPr id="29" name="stat num 1"/>
          <p:cNvSpPr txBox="1"/>
          <p:nvPr/>
        </p:nvSpPr>
        <p:spPr>
          <a:xfrm>
            <a:off x="685800" y="3840480"/>
            <a:ext cx="2286000" cy="411480"/>
          </a:xfrm>
          <a:prstGeom prst="rect">
            <a:avLst/>
          </a:prstGeom>
          <a:noFill/>
          <a:ln/>
        </p:spPr>
        <p:txBody>
          <a:bodyPr wrap="square" lIns="0" tIns="0" rIns="0" bIns="0" rtlCol="0" anchor="ctr"/>
          <a:lstStyle/>
          <a:p>
            <a:pPr indent="0" marL="0">
              <a:buNone/>
            </a:pPr>
            <a:r>
              <a:rPr lang="ko-KR" altLang="en-US" sz="2200" b="1" dirty="0">
                <a:solidFill>
                  <a:schemeClr val="accent1"/>
                </a:solidFill>
              </a:rPr>
              <a:t>약 1,300줄</a:t>
            </a:r>
            <a:endParaRPr lang="ko-KR" sz="2200" dirty="0"/>
          </a:p>
        </p:txBody>
      </p:sp>
      <p:sp>
        <p:nvSpPr>
          <p:cNvPr id="30" name="stat label 1"/>
          <p:cNvSpPr txBox="1"/>
          <p:nvPr/>
        </p:nvSpPr>
        <p:spPr>
          <a:xfrm>
            <a:off x="685800" y="4251960"/>
            <a:ext cx="2331720" cy="274320"/>
          </a:xfrm>
          <a:prstGeom prst="rect">
            <a:avLst/>
          </a:prstGeom>
          <a:noFill/>
          <a:ln/>
        </p:spPr>
        <p:txBody>
          <a:bodyPr wrap="square" lIns="0" tIns="0" rIns="0" bIns="0" rtlCol="0" anchor="ctr"/>
          <a:lstStyle/>
          <a:p>
            <a:pPr indent="0" marL="0">
              <a:buNone/>
            </a:pPr>
            <a:r>
              <a:rPr lang="ko-KR" altLang="en-US" sz="1100" dirty="0">
                <a:solidFill>
                  <a:schemeClr val="tx2"/>
                </a:solidFill>
              </a:rPr>
              <a:t>앱 코드 분량</a:t>
            </a:r>
            <a:endParaRPr lang="ko-KR" sz="1100" dirty="0"/>
          </a:p>
        </p:txBody>
      </p:sp>
      <p:sp>
        <p:nvSpPr>
          <p:cNvPr id="31" name="stat card 2"/>
          <p:cNvSpPr/>
          <p:nvPr/>
        </p:nvSpPr>
        <p:spPr>
          <a:xfrm>
            <a:off x="3246120" y="3794760"/>
            <a:ext cx="2651760" cy="822960"/>
          </a:xfrm>
          <a:prstGeom prst="roundRect">
            <a:avLst>
              <a:gd name="adj" fmla="val 13333"/>
            </a:avLst>
          </a:prstGeom>
          <a:solidFill>
            <a:schemeClr val="bg2"/>
          </a:solidFill>
          <a:ln/>
        </p:spPr>
      </p:sp>
      <p:sp>
        <p:nvSpPr>
          <p:cNvPr id="32" name="stat num 2"/>
          <p:cNvSpPr txBox="1"/>
          <p:nvPr/>
        </p:nvSpPr>
        <p:spPr>
          <a:xfrm>
            <a:off x="3474720" y="3840480"/>
            <a:ext cx="2286000" cy="411480"/>
          </a:xfrm>
          <a:prstGeom prst="rect">
            <a:avLst/>
          </a:prstGeom>
          <a:noFill/>
          <a:ln/>
        </p:spPr>
        <p:txBody>
          <a:bodyPr wrap="square" lIns="0" tIns="0" rIns="0" bIns="0" rtlCol="0" anchor="ctr"/>
          <a:lstStyle/>
          <a:p>
            <a:pPr indent="0" marL="0">
              <a:buNone/>
            </a:pPr>
            <a:r>
              <a:rPr lang="ko-KR" altLang="en-US" sz="2200" b="1" dirty="0">
                <a:solidFill>
                  <a:schemeClr val="accent1"/>
                </a:solidFill>
              </a:rPr>
              <a:t>33번</a:t>
            </a:r>
            <a:endParaRPr lang="ko-KR" sz="2200" dirty="0"/>
          </a:p>
        </p:txBody>
      </p:sp>
      <p:sp>
        <p:nvSpPr>
          <p:cNvPr id="33" name="stat label 2"/>
          <p:cNvSpPr txBox="1"/>
          <p:nvPr/>
        </p:nvSpPr>
        <p:spPr>
          <a:xfrm>
            <a:off x="3474720" y="4251960"/>
            <a:ext cx="2331720" cy="274320"/>
          </a:xfrm>
          <a:prstGeom prst="rect">
            <a:avLst/>
          </a:prstGeom>
          <a:noFill/>
          <a:ln/>
        </p:spPr>
        <p:txBody>
          <a:bodyPr wrap="square" lIns="0" tIns="0" rIns="0" bIns="0" rtlCol="0" anchor="ctr"/>
          <a:lstStyle/>
          <a:p>
            <a:pPr indent="0" marL="0">
              <a:buNone/>
            </a:pPr>
            <a:r>
              <a:rPr lang="ko-KR" altLang="en-US" sz="1100" dirty="0">
                <a:solidFill>
                  <a:schemeClr val="tx2"/>
                </a:solidFill>
              </a:rPr>
              <a:t>저장 기록 (커밋)</a:t>
            </a:r>
            <a:endParaRPr lang="ko-KR" sz="1100" dirty="0"/>
          </a:p>
        </p:txBody>
      </p:sp>
      <p:sp>
        <p:nvSpPr>
          <p:cNvPr id="34" name="stat card 3"/>
          <p:cNvSpPr/>
          <p:nvPr/>
        </p:nvSpPr>
        <p:spPr>
          <a:xfrm>
            <a:off x="6035040" y="3794760"/>
            <a:ext cx="2651760" cy="822960"/>
          </a:xfrm>
          <a:prstGeom prst="roundRect">
            <a:avLst>
              <a:gd name="adj" fmla="val 13333"/>
            </a:avLst>
          </a:prstGeom>
          <a:solidFill>
            <a:schemeClr val="bg2"/>
          </a:solidFill>
          <a:ln/>
        </p:spPr>
      </p:sp>
      <p:sp>
        <p:nvSpPr>
          <p:cNvPr id="35" name="stat num 3"/>
          <p:cNvSpPr txBox="1"/>
          <p:nvPr/>
        </p:nvSpPr>
        <p:spPr>
          <a:xfrm>
            <a:off x="6263640" y="3840480"/>
            <a:ext cx="2286000" cy="411480"/>
          </a:xfrm>
          <a:prstGeom prst="rect">
            <a:avLst/>
          </a:prstGeom>
          <a:noFill/>
          <a:ln/>
        </p:spPr>
        <p:txBody>
          <a:bodyPr wrap="square" lIns="0" tIns="0" rIns="0" bIns="0" rtlCol="0" anchor="ctr"/>
          <a:lstStyle/>
          <a:p>
            <a:pPr indent="0" marL="0">
              <a:buNone/>
            </a:pPr>
            <a:r>
              <a:rPr lang="ko-KR" altLang="en-US" sz="2200" b="1" dirty="0">
                <a:solidFill>
                  <a:schemeClr val="accent1"/>
                </a:solidFill>
              </a:rPr>
              <a:t>2개</a:t>
            </a:r>
            <a:endParaRPr lang="ko-KR" sz="2200" dirty="0"/>
          </a:p>
        </p:txBody>
      </p:sp>
      <p:sp>
        <p:nvSpPr>
          <p:cNvPr id="36" name="stat label 3"/>
          <p:cNvSpPr txBox="1"/>
          <p:nvPr/>
        </p:nvSpPr>
        <p:spPr>
          <a:xfrm>
            <a:off x="6263640" y="4251960"/>
            <a:ext cx="2331720" cy="274320"/>
          </a:xfrm>
          <a:prstGeom prst="rect">
            <a:avLst/>
          </a:prstGeom>
          <a:noFill/>
          <a:ln/>
        </p:spPr>
        <p:txBody>
          <a:bodyPr wrap="square" lIns="0" tIns="0" rIns="0" bIns="0" rtlCol="0" anchor="ctr"/>
          <a:lstStyle/>
          <a:p>
            <a:pPr indent="0" marL="0">
              <a:buNone/>
            </a:pPr>
            <a:r>
              <a:rPr lang="ko-KR" altLang="en-US" sz="1100" dirty="0">
                <a:solidFill>
                  <a:schemeClr val="tx2"/>
                </a:solidFill>
              </a:rPr>
              <a:t>함께한 AI 도구</a:t>
            </a:r>
            <a:endParaRPr lang="ko-KR"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5486400" cy="685800"/>
          </a:xfrm>
          <a:prstGeom prst="rect">
            <a:avLst/>
          </a:prstGeom>
          <a:noFill/>
          <a:ln/>
        </p:spPr>
        <p:txBody>
          <a:bodyPr wrap="square" lIns="0" tIns="0" rIns="0" bIns="0" rtlCol="0" anchor="ctr"/>
          <a:lstStyle/>
          <a:p>
            <a:pPr algn="l" indent="0" marL="0">
              <a:buNone/>
            </a:pPr>
            <a:r>
              <a:rPr lang="en-US" sz="3400" b="1" dirty="0">
                <a:solidFill>
                  <a:schemeClr val="bg1"/>
                </a:solidFill>
              </a:rPr>
              <a:t>정리하며</a:t>
            </a:r>
            <a:endParaRPr lang="en-US" sz="3400" dirty="0"/>
          </a:p>
        </p:txBody>
      </p:sp>
      <p:sp>
        <p:nvSpPr>
          <p:cNvPr id="3" name="lesson 1 circle"/>
          <p:cNvSpPr/>
          <p:nvPr/>
        </p:nvSpPr>
        <p:spPr>
          <a:xfrm>
            <a:off x="457200" y="1234440"/>
            <a:ext cx="548640" cy="548640"/>
          </a:xfrm>
          <a:prstGeom prst="ellipse">
            <a:avLst/>
          </a:prstGeom>
          <a:solidFill>
            <a:schemeClr val="accent1"/>
          </a:solidFill>
          <a:ln/>
        </p:spPr>
      </p:sp>
      <p:pic>
        <p:nvPicPr>
          <p:cNvPr id="4" name="lesson 1 icon" descr="lesson 1">    </p:cNvPr>
          <p:cNvPicPr>
            <a:picLocks noChangeAspect="1"/>
          </p:cNvPicPr>
          <p:nvPr/>
        </p:nvPicPr>
        <p:blipFill>
          <a:blip r:embed="rId1"/>
          <a:stretch>
            <a:fillRect/>
          </a:stretch>
        </p:blipFill>
        <p:spPr>
          <a:xfrm>
            <a:off x="577901" y="1355141"/>
            <a:ext cx="307238" cy="307238"/>
          </a:xfrm>
          <a:prstGeom prst="rect">
            <a:avLst/>
          </a:prstGeom>
        </p:spPr>
      </p:pic>
      <p:sp>
        <p:nvSpPr>
          <p:cNvPr id="5" name="lesson head 1"/>
          <p:cNvSpPr txBox="1"/>
          <p:nvPr/>
        </p:nvSpPr>
        <p:spPr>
          <a:xfrm>
            <a:off x="1188720" y="1216152"/>
            <a:ext cx="4480560" cy="320040"/>
          </a:xfrm>
          <a:prstGeom prst="rect">
            <a:avLst/>
          </a:prstGeom>
          <a:noFill/>
          <a:ln/>
        </p:spPr>
        <p:txBody>
          <a:bodyPr wrap="square" lIns="0" tIns="0" rIns="0" bIns="0" rtlCol="0" anchor="ctr"/>
          <a:lstStyle/>
          <a:p>
            <a:pPr indent="0" marL="0">
              <a:buNone/>
            </a:pPr>
            <a:r>
              <a:rPr lang="ko-KR" altLang="en-US" sz="1700" b="1" dirty="0">
                <a:solidFill>
                  <a:schemeClr val="bg1"/>
                </a:solidFill>
              </a:rPr>
              <a:t>AI는 빠른 손, 방향은 내가</a:t>
            </a:r>
            <a:endParaRPr lang="ko-KR" sz="1700" dirty="0"/>
          </a:p>
        </p:txBody>
      </p:sp>
      <p:sp>
        <p:nvSpPr>
          <p:cNvPr id="6" name="lesson body 1"/>
          <p:cNvSpPr txBox="1"/>
          <p:nvPr/>
        </p:nvSpPr>
        <p:spPr>
          <a:xfrm>
            <a:off x="1188720" y="1536192"/>
            <a:ext cx="4480560" cy="292608"/>
          </a:xfrm>
          <a:prstGeom prst="rect">
            <a:avLst/>
          </a:prstGeom>
          <a:noFill/>
          <a:ln/>
        </p:spPr>
        <p:txBody>
          <a:bodyPr wrap="square" lIns="0" tIns="0" rIns="0" bIns="0" rtlCol="0" anchor="ctr"/>
          <a:lstStyle/>
          <a:p>
            <a:pPr indent="0" marL="0">
              <a:buNone/>
            </a:pPr>
            <a:r>
              <a:rPr lang="ko-KR" altLang="en-US" sz="1300" dirty="0">
                <a:solidFill>
                  <a:schemeClr val="bg2"/>
                </a:solidFill>
              </a:rPr>
              <a:t>무엇을 만들지 정하고 결과를 확인하는 건 내 몫</a:t>
            </a:r>
            <a:endParaRPr lang="ko-KR" sz="1300" dirty="0"/>
          </a:p>
        </p:txBody>
      </p:sp>
      <p:sp>
        <p:nvSpPr>
          <p:cNvPr id="7" name="lesson 2 circle"/>
          <p:cNvSpPr/>
          <p:nvPr/>
        </p:nvSpPr>
        <p:spPr>
          <a:xfrm>
            <a:off x="457200" y="2103120"/>
            <a:ext cx="548640" cy="548640"/>
          </a:xfrm>
          <a:prstGeom prst="ellipse">
            <a:avLst/>
          </a:prstGeom>
          <a:solidFill>
            <a:schemeClr val="accent3"/>
          </a:solidFill>
          <a:ln/>
        </p:spPr>
      </p:sp>
      <p:pic>
        <p:nvPicPr>
          <p:cNvPr id="8" name="lesson 2 icon" descr="lesson 2">    </p:cNvPr>
          <p:cNvPicPr>
            <a:picLocks noChangeAspect="1"/>
          </p:cNvPicPr>
          <p:nvPr/>
        </p:nvPicPr>
        <p:blipFill>
          <a:blip r:embed="rId2"/>
          <a:stretch>
            <a:fillRect/>
          </a:stretch>
        </p:blipFill>
        <p:spPr>
          <a:xfrm>
            <a:off x="577901" y="2223821"/>
            <a:ext cx="307238" cy="307238"/>
          </a:xfrm>
          <a:prstGeom prst="rect">
            <a:avLst/>
          </a:prstGeom>
        </p:spPr>
      </p:pic>
      <p:sp>
        <p:nvSpPr>
          <p:cNvPr id="9" name="lesson head 2"/>
          <p:cNvSpPr txBox="1"/>
          <p:nvPr/>
        </p:nvSpPr>
        <p:spPr>
          <a:xfrm>
            <a:off x="1188720" y="2084832"/>
            <a:ext cx="4480560" cy="320040"/>
          </a:xfrm>
          <a:prstGeom prst="rect">
            <a:avLst/>
          </a:prstGeom>
          <a:noFill/>
          <a:ln/>
        </p:spPr>
        <p:txBody>
          <a:bodyPr wrap="square" lIns="0" tIns="0" rIns="0" bIns="0" rtlCol="0" anchor="ctr"/>
          <a:lstStyle/>
          <a:p>
            <a:pPr indent="0" marL="0">
              <a:buNone/>
            </a:pPr>
            <a:r>
              <a:rPr lang="ko-KR" altLang="en-US" sz="1700" b="1" dirty="0">
                <a:solidFill>
                  <a:schemeClr val="bg1"/>
                </a:solidFill>
              </a:rPr>
              <a:t>막히면 길을 바꾸기</a:t>
            </a:r>
            <a:endParaRPr lang="ko-KR" sz="1700" dirty="0"/>
          </a:p>
        </p:txBody>
      </p:sp>
      <p:sp>
        <p:nvSpPr>
          <p:cNvPr id="10" name="lesson body 2"/>
          <p:cNvSpPr txBox="1"/>
          <p:nvPr/>
        </p:nvSpPr>
        <p:spPr>
          <a:xfrm>
            <a:off x="1188720" y="2404872"/>
            <a:ext cx="4480560" cy="292608"/>
          </a:xfrm>
          <a:prstGeom prst="rect">
            <a:avLst/>
          </a:prstGeom>
          <a:noFill/>
          <a:ln/>
        </p:spPr>
        <p:txBody>
          <a:bodyPr wrap="square" lIns="0" tIns="0" rIns="0" bIns="0" rtlCol="0" anchor="ctr"/>
          <a:lstStyle/>
          <a:p>
            <a:pPr indent="0" marL="0">
              <a:buNone/>
            </a:pPr>
            <a:r>
              <a:rPr lang="ko-KR" altLang="en-US" sz="1300" dirty="0">
                <a:solidFill>
                  <a:schemeClr val="bg2"/>
                </a:solidFill>
              </a:rPr>
              <a:t>기상청 API 대신 Open-Meteo로 바꿔서 해결</a:t>
            </a:r>
            <a:endParaRPr lang="ko-KR" sz="1300" dirty="0"/>
          </a:p>
        </p:txBody>
      </p:sp>
      <p:sp>
        <p:nvSpPr>
          <p:cNvPr id="11" name="lesson 3 circle"/>
          <p:cNvSpPr/>
          <p:nvPr/>
        </p:nvSpPr>
        <p:spPr>
          <a:xfrm>
            <a:off x="457200" y="2971800"/>
            <a:ext cx="548640" cy="548640"/>
          </a:xfrm>
          <a:prstGeom prst="ellipse">
            <a:avLst/>
          </a:prstGeom>
          <a:solidFill>
            <a:schemeClr val="accent4"/>
          </a:solidFill>
          <a:ln/>
        </p:spPr>
      </p:sp>
      <p:pic>
        <p:nvPicPr>
          <p:cNvPr id="12" name="lesson 3 icon" descr="lesson 3">    </p:cNvPr>
          <p:cNvPicPr>
            <a:picLocks noChangeAspect="1"/>
          </p:cNvPicPr>
          <p:nvPr/>
        </p:nvPicPr>
        <p:blipFill>
          <a:blip r:embed="rId3"/>
          <a:stretch>
            <a:fillRect/>
          </a:stretch>
        </p:blipFill>
        <p:spPr>
          <a:xfrm>
            <a:off x="577901" y="3092501"/>
            <a:ext cx="307238" cy="307238"/>
          </a:xfrm>
          <a:prstGeom prst="rect">
            <a:avLst/>
          </a:prstGeom>
        </p:spPr>
      </p:pic>
      <p:sp>
        <p:nvSpPr>
          <p:cNvPr id="13" name="lesson head 3"/>
          <p:cNvSpPr txBox="1"/>
          <p:nvPr/>
        </p:nvSpPr>
        <p:spPr>
          <a:xfrm>
            <a:off x="1188720" y="2953512"/>
            <a:ext cx="4480560" cy="320040"/>
          </a:xfrm>
          <a:prstGeom prst="rect">
            <a:avLst/>
          </a:prstGeom>
          <a:noFill/>
          <a:ln/>
        </p:spPr>
        <p:txBody>
          <a:bodyPr wrap="square" lIns="0" tIns="0" rIns="0" bIns="0" rtlCol="0" anchor="ctr"/>
          <a:lstStyle/>
          <a:p>
            <a:pPr indent="0" marL="0">
              <a:buNone/>
            </a:pPr>
            <a:r>
              <a:rPr lang="ko-KR" altLang="en-US" sz="1700" b="1" dirty="0">
                <a:solidFill>
                  <a:schemeClr val="bg1"/>
                </a:solidFill>
              </a:rPr>
              <a:t>써 보고 고치는 반복</a:t>
            </a:r>
            <a:endParaRPr lang="ko-KR" sz="1700" dirty="0"/>
          </a:p>
        </p:txBody>
      </p:sp>
      <p:sp>
        <p:nvSpPr>
          <p:cNvPr id="14" name="lesson body 3"/>
          <p:cNvSpPr txBox="1"/>
          <p:nvPr/>
        </p:nvSpPr>
        <p:spPr>
          <a:xfrm>
            <a:off x="1188720" y="3273552"/>
            <a:ext cx="4480560" cy="292608"/>
          </a:xfrm>
          <a:prstGeom prst="rect">
            <a:avLst/>
          </a:prstGeom>
          <a:noFill/>
          <a:ln/>
        </p:spPr>
        <p:txBody>
          <a:bodyPr wrap="square" lIns="0" tIns="0" rIns="0" bIns="0" rtlCol="0" anchor="ctr"/>
          <a:lstStyle/>
          <a:p>
            <a:pPr indent="0" marL="0">
              <a:buNone/>
            </a:pPr>
            <a:r>
              <a:rPr lang="ko-KR" altLang="en-US" sz="1300" dirty="0">
                <a:solidFill>
                  <a:schemeClr val="bg2"/>
                </a:solidFill>
              </a:rPr>
              <a:t>직접 써 보면서 화면과 오류를 계속 다듬었어요</a:t>
            </a:r>
            <a:endParaRPr lang="ko-KR" sz="1300" dirty="0"/>
          </a:p>
        </p:txBody>
      </p:sp>
      <p:sp>
        <p:nvSpPr>
          <p:cNvPr id="15" name="thanks"/>
          <p:cNvSpPr txBox="1"/>
          <p:nvPr/>
        </p:nvSpPr>
        <p:spPr>
          <a:xfrm>
            <a:off x="457200" y="4023360"/>
            <a:ext cx="5029200" cy="502920"/>
          </a:xfrm>
          <a:prstGeom prst="rect">
            <a:avLst/>
          </a:prstGeom>
          <a:noFill/>
          <a:ln/>
        </p:spPr>
        <p:txBody>
          <a:bodyPr wrap="square" lIns="0" tIns="0" rIns="0" bIns="0" rtlCol="0" anchor="ctr"/>
          <a:lstStyle/>
          <a:p>
            <a:pPr indent="0" marL="0">
              <a:buNone/>
            </a:pPr>
            <a:r>
              <a:rPr lang="ko-KR" altLang="en-US" sz="2400" b="1" dirty="0">
                <a:solidFill>
                  <a:schemeClr val="accent2"/>
                </a:solidFill>
              </a:rPr>
              <a:t>감사합니다! 질문 있나요?</a:t>
            </a:r>
            <a:endParaRPr lang="ko-KR" sz="2400" dirty="0"/>
          </a:p>
        </p:txBody>
      </p:sp>
      <p:sp>
        <p:nvSpPr>
          <p:cNvPr id="16" name="qr card"/>
          <p:cNvSpPr/>
          <p:nvPr/>
        </p:nvSpPr>
        <p:spPr>
          <a:xfrm>
            <a:off x="6035040" y="1097280"/>
            <a:ext cx="2651760" cy="3520440"/>
          </a:xfrm>
          <a:prstGeom prst="roundRect">
            <a:avLst>
              <a:gd name="adj" fmla="val 6207"/>
            </a:avLst>
          </a:prstGeom>
          <a:solidFill>
            <a:schemeClr val="bg1"/>
          </a:solidFill>
          <a:ln/>
        </p:spPr>
      </p:sp>
      <p:pic>
        <p:nvPicPr>
          <p:cNvPr id="17" name="qr" descr="WeatherApp 안드로이드 설치 파일 다운로드 QR 코드">    </p:cNvPr>
          <p:cNvPicPr>
            <a:picLocks noChangeAspect="1"/>
          </p:cNvPicPr>
          <p:nvPr/>
        </p:nvPicPr>
        <p:blipFill>
          <a:blip r:embed="rId4"/>
          <a:stretch>
            <a:fillRect/>
          </a:stretch>
        </p:blipFill>
        <p:spPr>
          <a:xfrm>
            <a:off x="6355080" y="1280160"/>
            <a:ext cx="2011680" cy="2011680"/>
          </a:xfrm>
          <a:prstGeom prst="rect">
            <a:avLst/>
          </a:prstGeom>
        </p:spPr>
      </p:pic>
      <p:sp>
        <p:nvSpPr>
          <p:cNvPr id="18" name="qr head"/>
          <p:cNvSpPr txBox="1"/>
          <p:nvPr/>
        </p:nvSpPr>
        <p:spPr>
          <a:xfrm>
            <a:off x="6172200" y="3383280"/>
            <a:ext cx="2377440" cy="320040"/>
          </a:xfrm>
          <a:prstGeom prst="rect">
            <a:avLst/>
          </a:prstGeom>
          <a:noFill/>
          <a:ln/>
        </p:spPr>
        <p:txBody>
          <a:bodyPr wrap="square" lIns="0" tIns="0" rIns="0" bIns="0" rtlCol="0" anchor="ctr"/>
          <a:lstStyle/>
          <a:p>
            <a:pPr algn="ctr" indent="0" marL="0">
              <a:buNone/>
            </a:pPr>
            <a:r>
              <a:rPr lang="ko-KR" altLang="en-US" sz="1500" b="1" dirty="0">
                <a:solidFill>
                  <a:schemeClr val="tx1"/>
                </a:solidFill>
              </a:rPr>
              <a:t>직접 설치해 보세요</a:t>
            </a:r>
            <a:endParaRPr lang="ko-KR" sz="1500" dirty="0"/>
          </a:p>
        </p:txBody>
      </p:sp>
      <p:sp>
        <p:nvSpPr>
          <p:cNvPr id="19" name="qr body"/>
          <p:cNvSpPr txBox="1"/>
          <p:nvPr/>
        </p:nvSpPr>
        <p:spPr>
          <a:xfrm>
            <a:off x="6172200" y="3703320"/>
            <a:ext cx="2377440" cy="457200"/>
          </a:xfrm>
          <a:prstGeom prst="rect">
            <a:avLst/>
          </a:prstGeom>
          <a:noFill/>
          <a:ln/>
        </p:spPr>
        <p:txBody>
          <a:bodyPr wrap="square" lIns="0" tIns="0" rIns="0" bIns="0" rtlCol="0" anchor="ctr"/>
          <a:lstStyle/>
          <a:p>
            <a:pPr algn="ctr" indent="0" marL="0">
              <a:buNone/>
            </a:pPr>
            <a:r>
              <a:rPr lang="ko-KR" altLang="en-US" sz="1100" dirty="0">
                <a:solidFill>
                  <a:schemeClr val="tx2"/>
                </a:solidFill>
              </a:rPr>
              <a:t>안드로이드 폰 카메라로 찍으면</a:t>
            </a:r>
            <a:endParaRPr lang="ko-KR" sz="1100" dirty="0"/>
          </a:p>
          <a:p>
            <a:pPr algn="ctr" indent="0" marL="0">
              <a:buNone/>
            </a:pPr>
            <a:r>
              <a:rPr lang="ko-KR" altLang="en-US" sz="1100" dirty="0">
                <a:solidFill>
                  <a:schemeClr val="tx2"/>
                </a:solidFill>
              </a:rPr>
              <a:t>설치 파일을 받을 수 있어요</a:t>
            </a:r>
            <a:endParaRPr lang="ko-KR" sz="1100" dirty="0"/>
          </a:p>
        </p:txBody>
      </p:sp>
      <p:sp>
        <p:nvSpPr>
          <p:cNvPr id="20" name="qr note"/>
          <p:cNvSpPr txBox="1"/>
          <p:nvPr/>
        </p:nvSpPr>
        <p:spPr>
          <a:xfrm>
            <a:off x="6172200" y="4206240"/>
            <a:ext cx="2377440" cy="274320"/>
          </a:xfrm>
          <a:prstGeom prst="rect">
            <a:avLst/>
          </a:prstGeom>
          <a:noFill/>
          <a:ln/>
        </p:spPr>
        <p:txBody>
          <a:bodyPr wrap="square" lIns="0" tIns="0" rIns="0" bIns="0" rtlCol="0" anchor="ctr"/>
          <a:lstStyle/>
          <a:p>
            <a:pPr algn="ctr" indent="0" marL="0">
              <a:buNone/>
            </a:pPr>
            <a:r>
              <a:rPr lang="ko-KR" altLang="en-US" sz="1000" dirty="0">
                <a:solidFill>
                  <a:schemeClr val="accent3"/>
                </a:solidFill>
              </a:rPr>
              <a:t>※ 아이폰은 아직 지원 안 돼요</a:t>
            </a:r>
            <a:endParaRPr lang="ko-KR" sz="1000" dirty="0"/>
          </a:p>
        </p:txBody>
      </p:sp>
    </p:spTree>
  </p:cSld>
  <p:clrMapOvr>
    <a:masterClrMapping/>
  </p:clrMapOvr>
</p:sld>
</file>

<file path=ppt/theme/theme1.xml><?xml version="1.0" encoding="utf-8"?>
<a:theme xmlns:a="http://schemas.openxmlformats.org/drawingml/2006/main" name="WeatherApp Sky">
  <a:themeElements>
    <a:clrScheme name="WeatherApp Sky">
      <a:dk1>
        <a:srgbClr val="1B2A41"/>
      </a:dk1>
      <a:lt1>
        <a:srgbClr val="FFFFFF"/>
      </a:lt1>
      <a:dk2>
        <a:srgbClr val="4A5A73"/>
      </a:dk2>
      <a:lt2>
        <a:srgbClr val="EEF5FB"/>
      </a:lt2>
      <a:accent1>
        <a:srgbClr val="2B8FD6"/>
      </a:accent1>
      <a:accent2>
        <a:srgbClr val="FFB627"/>
      </a:accent2>
      <a:accent3>
        <a:srgbClr val="FF6B5B"/>
      </a:accent3>
      <a:accent4>
        <a:srgbClr val="4DBB98"/>
      </a:accent4>
      <a:accent5>
        <a:srgbClr val="8E7CF0"/>
      </a:accent5>
      <a:accent6>
        <a:srgbClr val="8A9AB0"/>
      </a:accent6>
      <a:hlink>
        <a:srgbClr val="2B8FD6"/>
      </a:hlink>
      <a:folHlink>
        <a:srgbClr val="8E7CF0"/>
      </a:folHlink>
    </a:clrScheme>
    <a:fontScheme name="WeatherApp Sky">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WeatherApp 발표</dc:title>
  <dc:subject>PptxGenJS Presentation</dc:subject>
  <dc:creator>정찬영</dc:creator>
  <cp:lastModifiedBy>정찬영</cp:lastModifiedBy>
  <cp:revision>1</cp:revision>
  <dcterms:created xsi:type="dcterms:W3CDTF">2026-10-28T01:47:49Z</dcterms:created>
  <dcterms:modified xsi:type="dcterms:W3CDTF">2026-10-28T01:47:49Z</dcterms:modified>
</cp:coreProperties>
</file>